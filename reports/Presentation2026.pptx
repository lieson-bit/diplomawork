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50" r:id="rId3"/>
    <p:sldMasterId id="2147483654" r:id="rId4"/>
  </p:sldMasterIdLst>
  <p:notesMasterIdLst>
    <p:notesMasterId r:id="rId7"/>
  </p:notesMasterIdLst>
  <p:handoutMasterIdLst>
    <p:handoutMasterId r:id="rId25"/>
  </p:handoutMasterIdLst>
  <p:sldIdLst>
    <p:sldId id="1171" r:id="rId5"/>
    <p:sldId id="1126" r:id="rId6"/>
    <p:sldId id="1173" r:id="rId8"/>
    <p:sldId id="1097" r:id="rId9"/>
    <p:sldId id="1172" r:id="rId10"/>
    <p:sldId id="1102" r:id="rId11"/>
    <p:sldId id="1185" r:id="rId12"/>
    <p:sldId id="1201" r:id="rId13"/>
    <p:sldId id="1202" r:id="rId14"/>
    <p:sldId id="1203" r:id="rId15"/>
    <p:sldId id="1204" r:id="rId16"/>
    <p:sldId id="1205" r:id="rId17"/>
    <p:sldId id="1206" r:id="rId18"/>
    <p:sldId id="1199" r:id="rId19"/>
    <p:sldId id="1207" r:id="rId20"/>
    <p:sldId id="1200" r:id="rId21"/>
    <p:sldId id="1209" r:id="rId22"/>
    <p:sldId id="1208" r:id="rId23"/>
    <p:sldId id="1197" r:id="rId24"/>
  </p:sldIdLst>
  <p:sldSz cx="12192000" cy="6858000"/>
  <p:notesSz cx="6858000" cy="9144000"/>
  <p:embeddedFontLs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  <p14:sldId id="1201"/>
            <p14:sldId id="1202"/>
            <p14:sldId id="1203"/>
            <p14:sldId id="1204"/>
            <p14:sldId id="1205"/>
            <p14:sldId id="1206"/>
            <p14:sldId id="1199"/>
            <p14:sldId id="1207"/>
            <p14:sldId id="1200"/>
            <p14:sldId id="1209"/>
            <p14:sldId id="1208"/>
            <p14:sldId id="11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/>
  <p:cmAuthor id="2" name="OCTS" initials="O" lastIdx="1" clrIdx="1"/>
  <p:cmAuthor id="3" name="Kostylev Andrey" initials="KA" lastIdx="1" clrIdx="2"/>
  <p:cmAuthor id="4" name="Elizaveta Kostyleva" initials="EK" lastIdx="1" clrIdx="3"/>
  <p:cmAuthor id="5" name="ОЦТС" initials="О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0520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300" y="102"/>
      </p:cViewPr>
      <p:guideLst>
        <p:guide orient="horz" pos="2160"/>
        <p:guide pos="38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rPr lang="ru-RU"/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rPr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Текст 5"/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/>
          <a:srcRect r="5385"/>
          <a:stretch>
            <a:fillRect/>
          </a:stretch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/>
          <a:srcRect r="5385"/>
          <a:stretch>
            <a:fillRect/>
          </a:stretch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/>
          <a:srcRect r="5385"/>
          <a:stretch>
            <a:fillRect/>
          </a:stretch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6155"/>
          <a:stretch>
            <a:fillRect/>
          </a:stretch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Дата</a:t>
            </a: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  <a:endParaRPr lang="ru-RU" dirty="0"/>
          </a:p>
          <a:p>
            <a:pPr lvl="1"/>
            <a:r>
              <a:rPr lang="ru-RU" dirty="0"/>
              <a:t>Заголовок таблицы</a:t>
            </a:r>
            <a:endParaRPr lang="ru-RU" dirty="0"/>
          </a:p>
          <a:p>
            <a:pPr lvl="2"/>
            <a:r>
              <a:rPr lang="ru-RU" dirty="0"/>
              <a:t>Подпись рисунка</a:t>
            </a:r>
            <a:endParaRPr lang="ru-RU" dirty="0"/>
          </a:p>
          <a:p>
            <a:pPr lvl="3"/>
            <a:r>
              <a:rPr lang="ru-RU" dirty="0"/>
              <a:t>Текст</a:t>
            </a:r>
            <a:endParaRPr lang="ru-RU" dirty="0"/>
          </a:p>
          <a:p>
            <a:pPr lvl="4"/>
            <a:r>
              <a:rPr lang="ru-RU" dirty="0"/>
              <a:t>Выделенный текст</a:t>
            </a:r>
            <a:endParaRPr lang="ru-RU" dirty="0"/>
          </a:p>
          <a:p>
            <a:pPr lvl="5"/>
            <a:r>
              <a:rPr lang="ru-RU" dirty="0"/>
              <a:t>Маркеры</a:t>
            </a:r>
            <a:endParaRPr lang="ru-RU" dirty="0"/>
          </a:p>
          <a:p>
            <a:pPr lvl="6"/>
            <a:r>
              <a:rPr lang="ru-RU" dirty="0"/>
              <a:t>Нумерация</a:t>
            </a:r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780" indent="-27178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  <a:endParaRPr lang="ru-RU" dirty="0"/>
          </a:p>
          <a:p>
            <a:pPr lvl="1"/>
            <a:r>
              <a:rPr lang="ru-RU" dirty="0"/>
              <a:t>Заголовок таблицы</a:t>
            </a:r>
            <a:endParaRPr lang="ru-RU" dirty="0"/>
          </a:p>
          <a:p>
            <a:pPr lvl="2"/>
            <a:r>
              <a:rPr lang="ru-RU" dirty="0"/>
              <a:t>Подпись рисунка</a:t>
            </a:r>
            <a:endParaRPr lang="ru-RU" dirty="0"/>
          </a:p>
          <a:p>
            <a:pPr lvl="3"/>
            <a:r>
              <a:rPr lang="ru-RU" dirty="0"/>
              <a:t>Текст</a:t>
            </a:r>
            <a:endParaRPr lang="ru-RU" dirty="0"/>
          </a:p>
          <a:p>
            <a:pPr lvl="4"/>
            <a:r>
              <a:rPr lang="ru-RU" dirty="0"/>
              <a:t>Выделенный текст</a:t>
            </a:r>
            <a:endParaRPr lang="ru-RU" dirty="0"/>
          </a:p>
          <a:p>
            <a:pPr lvl="5"/>
            <a:r>
              <a:rPr lang="ru-RU" dirty="0"/>
              <a:t>Маркеры</a:t>
            </a:r>
            <a:endParaRPr lang="ru-RU" dirty="0"/>
          </a:p>
          <a:p>
            <a:pPr lvl="6"/>
            <a:r>
              <a:rPr lang="ru-RU" dirty="0"/>
              <a:t>Нумерация</a:t>
            </a:r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780" indent="-27178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3315" y="2044700"/>
            <a:ext cx="8056245" cy="598170"/>
          </a:xfrm>
        </p:spPr>
        <p:txBody>
          <a:bodyPr/>
          <a:lstStyle/>
          <a:p>
            <a:r>
              <a:rPr lang="en-US" altLang="en-US" dirty="0"/>
              <a:t>Агрегатор</a:t>
            </a:r>
            <a:r>
              <a:rPr lang="en-US" altLang="ru-RU" dirty="0"/>
              <a:t> </a:t>
            </a:r>
            <a:r>
              <a:rPr lang="en-US" altLang="en-US" dirty="0"/>
              <a:t>услуг</a:t>
            </a:r>
            <a:r>
              <a:rPr lang="en-US" altLang="ru-RU" dirty="0"/>
              <a:t> </a:t>
            </a:r>
            <a:r>
              <a:rPr lang="en-US" altLang="en-US" dirty="0"/>
              <a:t>доставки</a:t>
            </a:r>
            <a:r>
              <a:rPr lang="en-US" altLang="ru-RU" dirty="0"/>
              <a:t> </a:t>
            </a:r>
            <a:r>
              <a:rPr lang="en-US" altLang="en-US" dirty="0"/>
              <a:t>грузов</a:t>
            </a:r>
            <a:endParaRPr lang="en-US" alt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81599" y="4471687"/>
            <a:ext cx="6330950" cy="841155"/>
          </a:xfrm>
        </p:spPr>
        <p:txBody>
          <a:bodyPr>
            <a:normAutofit fontScale="90000"/>
          </a:bodyPr>
          <a:lstStyle/>
          <a:p>
            <a:r>
              <a:rPr lang="ru-RU" dirty="0"/>
              <a:t>Студент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altLang="en-US" dirty="0"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  <a:sym typeface="+mn-lt"/>
              </a:rPr>
              <a:t>Мвале Лисон</a:t>
            </a:r>
            <a:r>
              <a:rPr lang="ru-RU" dirty="0"/>
              <a:t>, № гр 4236</a:t>
            </a:r>
            <a:endParaRPr lang="ru-RU" dirty="0"/>
          </a:p>
          <a:p>
            <a:endParaRPr lang="ru-RU" dirty="0"/>
          </a:p>
          <a:p>
            <a:r>
              <a:rPr lang="ru-RU" dirty="0"/>
              <a:t>Руководитель</a:t>
            </a:r>
            <a:r>
              <a:rPr lang="en-US" dirty="0"/>
              <a:t>: </a:t>
            </a:r>
            <a:r>
              <a:rPr lang="en-US" altLang="en-US" dirty="0"/>
              <a:t>проф</a:t>
            </a:r>
            <a:r>
              <a:rPr lang="en-US" altLang="ru-RU" dirty="0"/>
              <a:t>., </a:t>
            </a:r>
            <a:r>
              <a:rPr lang="en-US" altLang="en-US" dirty="0"/>
              <a:t>д</a:t>
            </a:r>
            <a:r>
              <a:rPr lang="en-US" altLang="ru-RU" dirty="0"/>
              <a:t>-</a:t>
            </a:r>
            <a:r>
              <a:rPr lang="en-US" altLang="en-US" dirty="0"/>
              <a:t>р</a:t>
            </a:r>
            <a:r>
              <a:rPr lang="en-US" altLang="ru-RU" dirty="0"/>
              <a:t> </a:t>
            </a:r>
            <a:r>
              <a:rPr lang="en-US" altLang="en-US" dirty="0"/>
              <a:t>техн</a:t>
            </a:r>
            <a:r>
              <a:rPr lang="en-US" altLang="ru-RU" dirty="0"/>
              <a:t>. </a:t>
            </a:r>
            <a:r>
              <a:rPr lang="en-US" altLang="en-US" dirty="0"/>
              <a:t>наук</a:t>
            </a:r>
            <a:r>
              <a:rPr lang="en-US" altLang="ru-RU" dirty="0"/>
              <a:t>, </a:t>
            </a:r>
            <a:r>
              <a:rPr lang="en-US" altLang="en-US" dirty="0"/>
              <a:t>доцент</a:t>
            </a:r>
            <a:r>
              <a:rPr lang="en-US" altLang="ru-RU" dirty="0"/>
              <a:t> </a:t>
            </a:r>
            <a:r>
              <a:rPr lang="en-US" altLang="en-US" dirty="0"/>
              <a:t>С</a:t>
            </a:r>
            <a:r>
              <a:rPr lang="en-US" altLang="ru-RU" dirty="0"/>
              <a:t>.</a:t>
            </a:r>
            <a:r>
              <a:rPr lang="en-US" altLang="en-US" dirty="0"/>
              <a:t>И</a:t>
            </a:r>
            <a:r>
              <a:rPr lang="en-US" altLang="ru-RU" dirty="0"/>
              <a:t>. </a:t>
            </a:r>
            <a:r>
              <a:rPr lang="en-US" altLang="en-US" dirty="0"/>
              <a:t>Колесникова</a:t>
            </a:r>
            <a:endParaRPr lang="en-US" alt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2500"/>
          </a:bodyPr>
          <a:lstStyle/>
          <a:p>
            <a:pPr lvl="1"/>
            <a:r>
              <a:rPr lang="ru-RU" dirty="0"/>
              <a:t>2026</a:t>
            </a:r>
            <a:endParaRPr lang="ru-RU" dirty="0"/>
          </a:p>
        </p:txBody>
      </p:sp>
      <p:pic>
        <p:nvPicPr>
          <p:cNvPr id="19" name="Изображение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2510" y="281305"/>
            <a:ext cx="6612890" cy="1045845"/>
          </a:xfrm>
          <a:prstGeom prst="rect">
            <a:avLst/>
          </a:prstGeom>
        </p:spPr>
      </p:pic>
      <p:sp>
        <p:nvSpPr>
          <p:cNvPr id="12" name="文本框 6"/>
          <p:cNvSpPr txBox="1"/>
          <p:nvPr/>
        </p:nvSpPr>
        <p:spPr>
          <a:xfrm>
            <a:off x="331470" y="3159760"/>
            <a:ext cx="5027930" cy="7950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Платформа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каршеринга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для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консолидированной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доставки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endParaRPr lang="en-US" altLang="ru-RU" b="1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грузов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от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нескольких</a:t>
            </a:r>
            <a:r>
              <a:rPr lang="en-US" altLang="ru-RU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 </a:t>
            </a:r>
            <a:r>
              <a:rPr lang="en-US" altLang="en-US" b="1">
                <a:solidFill>
                  <a:schemeClr val="tx1"/>
                </a:solidFill>
                <a:ea typeface="Calibri" panose="020F0502020204030204" charset="0"/>
                <a:cs typeface="Calibri" panose="020F0502020204030204" charset="0"/>
                <a:sym typeface="+mn-lt"/>
              </a:rPr>
              <a:t>клиентов</a:t>
            </a:r>
            <a:endParaRPr lang="en-US" altLang="en-US" b="1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  <a:endParaRPr lang="ru-RU" dirty="0"/>
          </a:p>
        </p:txBody>
      </p:sp>
      <p:sp>
        <p:nvSpPr>
          <p:cNvPr id="13" name="Текст 4"/>
          <p:cNvSpPr txBox="1"/>
          <p:nvPr/>
        </p:nvSpPr>
        <p:spPr>
          <a:xfrm>
            <a:off x="6456362" y="4065973"/>
            <a:ext cx="5184775" cy="23157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780" indent="-2717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780" indent="-27178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8463" y="932436"/>
            <a:ext cx="11135001" cy="5723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Обозначение</a:t>
            </a:r>
            <a:r>
              <a:rPr lang="en-US" altLang="ru-RU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проблемы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Существующие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логистические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платформы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имеют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критических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недостатка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Сопоставление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водителями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только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расстоянию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игнорируются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вес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-Отсутствие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консолидации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нескольких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недогруженные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рейсы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Ручное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планирование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нарушение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распределения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веса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повреждение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аварийные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ситуации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Методы и подходы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Динамическое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программирование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многомерная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Геопространственный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поиск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(Geohash +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формула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гаверсинуса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Задача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маршрутизации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(VRP)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алгоритмами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ближайшего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соседа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2-opt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Трёхмерная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упаковка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(3D bin packing)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эвристикой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слоёв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Расчёт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центра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стабильности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загрузки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Микросервисная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архитектура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контейнеризацией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Docker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Ожидаемые результаты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Действующая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платформа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каршеринга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где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делят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средство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Автоматическая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учётом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всех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заборов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доставок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срочности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Безопасная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коэффициентом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использования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86%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индексом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стабильности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100%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551180" y="977900"/>
            <a:ext cx="6685280" cy="5501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buClrTx/>
              <a:buSzTx/>
              <a:buFontTx/>
            </a:pPr>
            <a:r>
              <a:rPr lang="en-US" altLang="en-US" sz="2000" b="1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Конкретные и измеримые задачи</a:t>
            </a:r>
            <a:endParaRPr lang="en-US" altLang="en-US" sz="2000" b="1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1. Провести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анализ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рынка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существующих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логистических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платформ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выявить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технологические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разрывы</a:t>
            </a:r>
            <a:endParaRPr lang="en-US" altLang="en-US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2. Формализовать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задачу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распределения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ресурсов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как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оптимизационную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модель</a:t>
            </a:r>
            <a:endParaRPr lang="en-US" altLang="en-US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3. Спроектировать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микросервисную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архитектуру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структуру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базы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данных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агрегатора</a:t>
            </a:r>
            <a:endParaRPr lang="en-US" altLang="en-US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4. Реализовать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алгоритмы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динамического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программирования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задача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рюкзаке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назначения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водителей</a:t>
            </a:r>
            <a:endParaRPr lang="en-US" altLang="en-US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5. Реализовать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эвристические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методы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маршрутов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учётом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консолидации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нескольких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заказов</a:t>
            </a:r>
            <a:endParaRPr lang="en-US" altLang="en-US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6. Внедрить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систему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отслеживания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заказов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реальном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времени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использованием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WebSocket</a:t>
            </a:r>
            <a:endParaRPr lang="en-US" altLang="ru-RU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7. Провести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тестирование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разработанного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решения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оценить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его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эффективность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целевым</a:t>
            </a:r>
            <a:r>
              <a:rPr lang="en-US" altLang="ru-RU" sz="2000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KPI</a:t>
            </a:r>
            <a:endParaRPr lang="en-US" altLang="ru-RU" sz="2000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51180" y="892810"/>
            <a:ext cx="11134725" cy="6457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buClrTx/>
              <a:buSzTx/>
              <a:buFontTx/>
            </a:pPr>
            <a:r>
              <a:rPr lang="en-US" altLang="en-US" sz="2000" b="1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Обоснование выбора темы</a:t>
            </a:r>
            <a:endParaRPr lang="en-US" altLang="en-US" sz="2000" b="1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Быстрый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рост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электронной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коммерции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создал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беспрецедентный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спрос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гибкие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экономичные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услуги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Малый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средний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бизнес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также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частные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лица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часто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нуждаются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разовых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или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регулярных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перевозках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грузов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Существующие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агрегаторы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заимствуют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функционал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из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сектора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пассажирских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такси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игнорируют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грузовые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ограничения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вес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габариты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требования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безопасной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sz="2000" b="1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Социальная и научная значимость</a:t>
            </a:r>
            <a:endParaRPr lang="en-US" altLang="en-US" sz="2000" b="1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Работа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вносит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вклад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логистическую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оптимизацию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объединяя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традиционно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раздельные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сопоставление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планирование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несколькими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остановками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(VRP)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загрузку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бин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пакинг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центр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).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Решение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сокращает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холостой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пробег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расход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топлива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время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также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повышает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безопасность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дорожного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движения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sz="2000" b="1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Современные тенденции</a:t>
            </a:r>
            <a:endParaRPr lang="en-US" altLang="en-US" sz="2000" b="1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электронной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коммерции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России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вырос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25%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2024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году</a:t>
            </a:r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Курьерская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является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ключевым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драйвером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роста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коммерческих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грузоперевозок</a:t>
            </a:r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Рынок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движется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от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изолированных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моделей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гибридным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платформам</a:t>
            </a:r>
            <a:endParaRPr lang="en-US" altLang="en-US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en-US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  <a:buNone/>
            </a:pPr>
            <a:r>
              <a:rPr lang="en-US" altLang="en-US" sz="2000" b="1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Целевые группы</a:t>
            </a:r>
            <a:endParaRPr lang="en-US" altLang="en-US" sz="2000" b="1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Малый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средний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бизнес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частные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клиенты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независимые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логистические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компании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нуждающиеся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оптимизации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последней</a:t>
            </a:r>
            <a:r>
              <a:rPr lang="en-US" alt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мили</a:t>
            </a:r>
            <a:endParaRPr lang="en-US" altLang="en-US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lstStyle/>
          <a:p>
            <a:r>
              <a:rPr lang="en-US" altLang="en-US" dirty="0"/>
              <a:t>Методы</a:t>
            </a:r>
            <a:r>
              <a:rPr lang="en-US" altLang="ru-RU" dirty="0"/>
              <a:t>, </a:t>
            </a:r>
            <a:r>
              <a:rPr lang="en-US" altLang="en-US" dirty="0"/>
              <a:t>подходы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стек</a:t>
            </a:r>
            <a:r>
              <a:rPr lang="en-US" altLang="ru-RU" dirty="0"/>
              <a:t> </a:t>
            </a:r>
            <a:r>
              <a:rPr lang="en-US" altLang="en-US" dirty="0"/>
              <a:t>технологий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51180" y="1526540"/>
            <a:ext cx="508508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Ключевые методы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Исследовательские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сравнительный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анализ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алгоритмов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оптимизации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обзор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литературы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Разработки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микросервисная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архитектура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проектирование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REST API,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контейнеризация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Аналитические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нагрузочное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тестирование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сравнение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производительности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оценка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KPI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Подходы 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Научный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математическое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моделирование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VRP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бин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пакинга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Практический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гибкая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разработка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итеративное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тестирование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валидация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реальном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наборе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данных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водителей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Таблица 1"/>
          <p:cNvGraphicFramePr/>
          <p:nvPr>
            <p:custDataLst>
              <p:tags r:id="rId1"/>
            </p:custDataLst>
          </p:nvPr>
        </p:nvGraphicFramePr>
        <p:xfrm>
          <a:off x="5806440" y="1330960"/>
          <a:ext cx="6096000" cy="3848735"/>
        </p:xfrm>
        <a:graphic>
          <a:graphicData uri="http://schemas.openxmlformats.org/drawingml/2006/table">
            <a:tbl>
              <a:tblPr/>
              <a:tblGrid>
                <a:gridCol w="2303780"/>
                <a:gridCol w="3792220"/>
              </a:tblGrid>
              <a:tr h="3124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Категория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Технологии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993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Бэкенд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Node.js (TypeScript), Python (алгоритмические сервисы)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530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Фронтенд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React 18, TypeScript, Tailwind CSS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5628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Базы данных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MySQL</a:t>
                      </a: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, Redis (кэширование, очереди)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Контейнеризация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Docker, Docker Compose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Тестирование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Postman, Artillery, Jest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993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Геопространственные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Geohash, формула гаверсинуса, API Яндекс Геокодирования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Текстовое поле 3"/>
          <p:cNvSpPr txBox="1"/>
          <p:nvPr/>
        </p:nvSpPr>
        <p:spPr>
          <a:xfrm>
            <a:off x="5806440" y="93218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Стек</a:t>
            </a:r>
            <a:r>
              <a:rPr lang="en-US" altLang="ru-RU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 </a:t>
            </a: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технологий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решения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1180" y="1023620"/>
            <a:ext cx="5544820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Что такое DeliveryMatch?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Платформа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каршеринга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где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могут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забронировать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Система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консолидирует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проверяет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физическую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выполнимость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вес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через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задачу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оптимизирует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учётом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генерирует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безопасный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план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(3D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бин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пакинг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+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центр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).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Ключевые характеристики 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buClrTx/>
              <a:buSzTx/>
              <a:buFontTx/>
            </a:pP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Принцип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каршеринга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обслуживает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нескольких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одну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поездку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Учёт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консолидации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группируются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географической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близости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кластеризация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радиусе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3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 Учёт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получают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приоритет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планировании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Таблица 1"/>
          <p:cNvGraphicFramePr/>
          <p:nvPr>
            <p:custDataLst>
              <p:tags r:id="rId1"/>
            </p:custDataLst>
          </p:nvPr>
        </p:nvGraphicFramePr>
        <p:xfrm>
          <a:off x="6301105" y="1731645"/>
          <a:ext cx="5701030" cy="4707890"/>
        </p:xfrm>
        <a:graphic>
          <a:graphicData uri="http://schemas.openxmlformats.org/drawingml/2006/table">
            <a:tbl>
              <a:tblPr/>
              <a:tblGrid>
                <a:gridCol w="2036445"/>
                <a:gridCol w="3664585"/>
              </a:tblGrid>
              <a:tr h="61722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Функция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Описание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2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Создание заказа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Клиент указывает вес, объём, срочность, особые требования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05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Интеллектуальное сопоставление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Система фильтрует водителей по вместимости (рюкзак) и близости (Geohash)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05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Оптимизация маршрута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Строит оптимальную последовательность заборов и доставок (VRP)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2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Планирование загрузки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Генерирует 3D-схему упаковки с расчётом центра масс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1699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Отслеживание в реальном времени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WebSocket-обновление местоположения водителя каждые 3 секунды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Текстовое поле 3"/>
          <p:cNvSpPr txBox="1"/>
          <p:nvPr/>
        </p:nvSpPr>
        <p:spPr>
          <a:xfrm>
            <a:off x="5906135" y="11722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Основные</a:t>
            </a:r>
            <a:r>
              <a:rPr lang="en-US" altLang="ru-RU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 </a:t>
            </a: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sym typeface="+mn-ea"/>
              </a:rPr>
              <a:t>функции</a:t>
            </a:r>
            <a:endParaRPr lang="en-US" altLang="en-US" sz="2000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lstStyle/>
          <a:p>
            <a:r>
              <a:rPr lang="en-US" altLang="en-US" dirty="0"/>
              <a:t>Логика</a:t>
            </a:r>
            <a:r>
              <a:rPr lang="en-US" altLang="ru-RU" dirty="0"/>
              <a:t> </a:t>
            </a:r>
            <a:r>
              <a:rPr lang="en-US" altLang="en-US" dirty="0"/>
              <a:t>работы</a:t>
            </a:r>
            <a:r>
              <a:rPr lang="en-US" altLang="ru-RU" dirty="0"/>
              <a:t>: </a:t>
            </a:r>
            <a:r>
              <a:rPr lang="en-US" altLang="en-US" dirty="0"/>
              <a:t>от</a:t>
            </a:r>
            <a:r>
              <a:rPr lang="en-US" altLang="ru-RU" dirty="0"/>
              <a:t> </a:t>
            </a:r>
            <a:r>
              <a:rPr lang="en-US" altLang="en-US" dirty="0"/>
              <a:t>заказа</a:t>
            </a:r>
            <a:r>
              <a:rPr lang="en-US" altLang="ru-RU" dirty="0"/>
              <a:t> </a:t>
            </a:r>
            <a:r>
              <a:rPr lang="en-US" altLang="en-US" dirty="0"/>
              <a:t>до</a:t>
            </a:r>
            <a:r>
              <a:rPr lang="en-US" altLang="ru-RU" dirty="0"/>
              <a:t> </a:t>
            </a:r>
            <a:r>
              <a:rPr lang="en-US" altLang="en-US" dirty="0"/>
              <a:t>доставки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4460" y="716280"/>
            <a:ext cx="11819890" cy="6209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Пошаговая</a:t>
            </a:r>
            <a:r>
              <a:rPr lang="en-US" altLang="ru-RU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sz="2000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последовательность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1. Клиент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создаёт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указывает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адреса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забора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вес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срочность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особые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требования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хрупкое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охлаждение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опасное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2. Система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выполняет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геопространственный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поиск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использует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Geohash +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гаверсинус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поиска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водителей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радиусе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5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точки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забора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3. Проверка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выполнимости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рюкзак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каждого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ближайшего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проверяет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позволяет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ли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оставшаяся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грузоподъёмность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объём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принять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заказ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4. Выбор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топ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-4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ранжируются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составному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баллу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расстояние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40%,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рейтинг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30%,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вместимость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20%,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срочность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5%,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особые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требования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5%)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5. Клиент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выбирает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выбирает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из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4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вариантов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основе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цены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ETA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типа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транспортного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6. Оптимизация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система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вставляет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новые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точки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забора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существующий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маршрут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минимальным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увеличением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расстояния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жадная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вставка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7.Консолидация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если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несколько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клиентов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бронируют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одно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транспортное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средство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остановки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кластеризуются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оптимизируются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(VRP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ограничениями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8. Генерация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плана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загрузки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алгоритм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3D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бин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пакинга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размещает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товары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рассчитывает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центр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масс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обеспечения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L/3 ≤ X_cm ≤ 2L/3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9. Отслеживание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реальном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времени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местоположение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передаётся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всем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клиентам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через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WebSocket</a:t>
            </a:r>
            <a:endParaRPr lang="en-US" altLang="ru-RU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10.Завершение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доставки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клиент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подтверждает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получение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водитель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получает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оплату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выставляется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оценка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rcRect t="13067" b="12655"/>
          <a:stretch>
            <a:fillRect/>
          </a:stretch>
        </p:blipFill>
        <p:spPr>
          <a:xfrm>
            <a:off x="551180" y="2503805"/>
            <a:ext cx="2882900" cy="6858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Алгоритм</a:t>
            </a:r>
            <a:r>
              <a:rPr lang="en-US" altLang="ru-RU"/>
              <a:t> 1: </a:t>
            </a:r>
            <a:r>
              <a:rPr lang="en-US" altLang="en-US"/>
              <a:t>Рюкзак</a:t>
            </a:r>
            <a:r>
              <a:rPr lang="en-US" altLang="ru-RU"/>
              <a:t> (</a:t>
            </a:r>
            <a:r>
              <a:rPr lang="en-US" altLang="en-US"/>
              <a:t>проверка</a:t>
            </a:r>
            <a:r>
              <a:rPr lang="en-US" altLang="ru-RU"/>
              <a:t> </a:t>
            </a:r>
            <a:r>
              <a:rPr lang="en-US" altLang="en-US"/>
              <a:t>выполнимости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322580" y="1021715"/>
            <a:ext cx="5621655" cy="5039995"/>
          </a:xfrm>
        </p:spPr>
        <p:txBody>
          <a:bodyPr/>
          <a:p>
            <a:r>
              <a:rPr lang="en-US" altLang="en-US" b="1"/>
              <a:t>Назначение</a:t>
            </a:r>
            <a:r>
              <a:rPr lang="en-US" altLang="ru-RU"/>
              <a:t>: </a:t>
            </a:r>
            <a:r>
              <a:rPr lang="en-US" altLang="en-US"/>
              <a:t>проверка</a:t>
            </a:r>
            <a:r>
              <a:rPr lang="en-US" altLang="ru-RU"/>
              <a:t>,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ли</a:t>
            </a:r>
            <a:r>
              <a:rPr lang="en-US" altLang="ru-RU"/>
              <a:t> </a:t>
            </a:r>
            <a:r>
              <a:rPr lang="en-US" altLang="en-US"/>
              <a:t>транспортное</a:t>
            </a:r>
            <a:r>
              <a:rPr lang="en-US" altLang="ru-RU"/>
              <a:t> </a:t>
            </a:r>
            <a:r>
              <a:rPr lang="en-US" altLang="en-US"/>
              <a:t>средство</a:t>
            </a:r>
            <a:r>
              <a:rPr lang="en-US" altLang="ru-RU"/>
              <a:t> </a:t>
            </a:r>
            <a:r>
              <a:rPr lang="en-US" altLang="en-US"/>
              <a:t>водителя</a:t>
            </a:r>
            <a:r>
              <a:rPr lang="en-US" altLang="ru-RU"/>
              <a:t> </a:t>
            </a:r>
            <a:r>
              <a:rPr lang="en-US" altLang="en-US"/>
              <a:t>физически</a:t>
            </a:r>
            <a:r>
              <a:rPr lang="en-US" altLang="ru-RU"/>
              <a:t> </a:t>
            </a:r>
            <a:r>
              <a:rPr lang="en-US" altLang="en-US"/>
              <a:t>перевезти</a:t>
            </a:r>
            <a:r>
              <a:rPr lang="en-US" altLang="ru-RU"/>
              <a:t> </a:t>
            </a:r>
            <a:r>
              <a:rPr lang="en-US" altLang="en-US"/>
              <a:t>заказ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его</a:t>
            </a:r>
            <a:r>
              <a:rPr lang="en-US" altLang="ru-RU"/>
              <a:t> </a:t>
            </a:r>
            <a:r>
              <a:rPr lang="en-US" altLang="en-US"/>
              <a:t>отображения</a:t>
            </a:r>
            <a:r>
              <a:rPr lang="en-US" altLang="ru-RU"/>
              <a:t> </a:t>
            </a:r>
            <a:r>
              <a:rPr lang="en-US" altLang="en-US"/>
              <a:t>клиенту</a:t>
            </a:r>
            <a:endParaRPr lang="en-US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388100" y="1021715"/>
            <a:ext cx="5624195" cy="518795"/>
          </a:xfrm>
          <a:prstGeom prst="rect">
            <a:avLst/>
          </a:prstGeom>
        </p:spPr>
        <p:txBody>
          <a:bodyPr wrap="square">
            <a:noAutofit/>
          </a:bodyPr>
          <a:p>
            <a:pPr algn="l" fontAlgn="base">
              <a:buClrTx/>
              <a:buSzTx/>
              <a:buFontTx/>
            </a:pPr>
            <a:r>
              <a:rPr lang="en-US" altLang="en-US" sz="2000" b="1">
                <a:latin typeface="Times New Roman" panose="02020603050405020304" charset="0"/>
                <a:ea typeface="+mj-ea"/>
                <a:cs typeface="Times New Roman" panose="02020603050405020304" charset="0"/>
              </a:rPr>
              <a:t>2. Условие выполнимости для каждого заказа</a:t>
            </a:r>
            <a:endParaRPr lang="en-US" altLang="en-US" sz="2000" b="1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020" y="2291080"/>
            <a:ext cx="5460365" cy="175831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rcRect b="14744"/>
          <a:stretch>
            <a:fillRect/>
          </a:stretch>
        </p:blipFill>
        <p:spPr>
          <a:xfrm>
            <a:off x="6508115" y="1372870"/>
            <a:ext cx="3322955" cy="1130935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/>
        </p:nvSpPr>
        <p:spPr>
          <a:xfrm>
            <a:off x="322580" y="2075180"/>
            <a:ext cx="5655310" cy="5276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1. Основная</a:t>
            </a: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метрика</a:t>
            </a: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сортировки</a:t>
            </a: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плотность</a:t>
            </a: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прибыли</a:t>
            </a: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):</a:t>
            </a:r>
            <a:endParaRPr lang="en-US" altLang="ru-RU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rcRect t="22658"/>
          <a:stretch>
            <a:fillRect/>
          </a:stretch>
        </p:blipFill>
        <p:spPr>
          <a:xfrm>
            <a:off x="322580" y="3204210"/>
            <a:ext cx="4479290" cy="112458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5" y="3014345"/>
            <a:ext cx="560705" cy="311785"/>
          </a:xfrm>
          <a:prstGeom prst="rect">
            <a:avLst/>
          </a:prstGeom>
        </p:spPr>
      </p:pic>
      <p:sp>
        <p:nvSpPr>
          <p:cNvPr id="13" name="Текстовое поле 12"/>
          <p:cNvSpPr txBox="1"/>
          <p:nvPr/>
        </p:nvSpPr>
        <p:spPr>
          <a:xfrm>
            <a:off x="164465" y="4343400"/>
            <a:ext cx="474853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3. Алгоритм в математической форме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6"/>
          <a:srcRect t="27348" r="12205"/>
          <a:stretch>
            <a:fillRect/>
          </a:stretch>
        </p:blipFill>
        <p:spPr>
          <a:xfrm>
            <a:off x="5944235" y="4267835"/>
            <a:ext cx="6068060" cy="2480945"/>
          </a:xfrm>
          <a:prstGeom prst="rect">
            <a:avLst/>
          </a:prstGeom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6"/>
          <a:srcRect l="-376" t="1187" r="45916" b="77257"/>
          <a:stretch>
            <a:fillRect/>
          </a:stretch>
        </p:blipFill>
        <p:spPr>
          <a:xfrm>
            <a:off x="164465" y="4742180"/>
            <a:ext cx="5332095" cy="944245"/>
          </a:xfrm>
          <a:prstGeom prst="rect">
            <a:avLst/>
          </a:prstGeom>
        </p:spPr>
      </p:pic>
      <p:pic>
        <p:nvPicPr>
          <p:cNvPr id="16" name="Изображение 15"/>
          <p:cNvPicPr>
            <a:picLocks noChangeAspect="1"/>
          </p:cNvPicPr>
          <p:nvPr/>
        </p:nvPicPr>
        <p:blipFill>
          <a:blip r:embed="rId6"/>
          <a:srcRect l="50137" t="10941" r="-550" b="75789"/>
          <a:stretch>
            <a:fillRect/>
          </a:stretch>
        </p:blipFill>
        <p:spPr>
          <a:xfrm>
            <a:off x="551180" y="5600065"/>
            <a:ext cx="4551680" cy="591820"/>
          </a:xfrm>
          <a:prstGeom prst="rect">
            <a:avLst/>
          </a:prstGeom>
        </p:spPr>
      </p:pic>
      <p:cxnSp>
        <p:nvCxnSpPr>
          <p:cNvPr id="17" name="Прямое соединение 16"/>
          <p:cNvCxnSpPr/>
          <p:nvPr/>
        </p:nvCxnSpPr>
        <p:spPr>
          <a:xfrm>
            <a:off x="5577840" y="4328160"/>
            <a:ext cx="0" cy="186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Алгоритм</a:t>
            </a:r>
            <a:r>
              <a:rPr lang="en-US" altLang="ru-RU"/>
              <a:t> GreedyFeasibilityCheck (3 </a:t>
            </a:r>
            <a:r>
              <a:rPr lang="en-US" altLang="en-US"/>
              <a:t>этапа</a:t>
            </a:r>
            <a:r>
              <a:rPr lang="en-US" altLang="ru-RU"/>
              <a:t>)</a:t>
            </a:r>
            <a:endParaRPr lang="en-US" altLang="ru-RU"/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107315" y="1048385"/>
          <a:ext cx="7085965" cy="2615565"/>
        </p:xfrm>
        <a:graphic>
          <a:graphicData uri="http://schemas.openxmlformats.org/drawingml/2006/table">
            <a:tbl>
              <a:tblPr/>
              <a:tblGrid>
                <a:gridCol w="781050"/>
                <a:gridCol w="4314825"/>
                <a:gridCol w="1990090"/>
              </a:tblGrid>
              <a:tr h="312420"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Этап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Операция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Сложность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Сортировка заказов по убыванию плотности (прибыль / (вес + объём))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 log n)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29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Жадное добавление с проверкой выполнимости (оба ограничения)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Локальная оптимизация (обмен выбранных и отклонённых заказов)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O(n²)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294640" y="382428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2000" b="1" i="0">
                <a:solidFill>
                  <a:schemeClr val="accent1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Результаты тестирования (</a:t>
            </a:r>
            <a:r>
              <a:rPr lang="en-US" sz="2000" b="1" i="0">
                <a:solidFill>
                  <a:schemeClr val="accent1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</a:t>
            </a:r>
            <a:r>
              <a:rPr sz="2000" b="1" i="0">
                <a:solidFill>
                  <a:schemeClr val="accent1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00 заказов)</a:t>
            </a:r>
            <a:endParaRPr sz="2000" b="1" i="0">
              <a:solidFill>
                <a:schemeClr val="accent1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graphicFrame>
        <p:nvGraphicFramePr>
          <p:cNvPr id="6" name="Таблица 5"/>
          <p:cNvGraphicFramePr/>
          <p:nvPr>
            <p:custDataLst>
              <p:tags r:id="rId2"/>
            </p:custDataLst>
          </p:nvPr>
        </p:nvGraphicFramePr>
        <p:xfrm>
          <a:off x="107315" y="4320540"/>
          <a:ext cx="7040880" cy="2178685"/>
        </p:xfrm>
        <a:graphic>
          <a:graphicData uri="http://schemas.openxmlformats.org/drawingml/2006/table">
            <a:tbl>
              <a:tblPr/>
              <a:tblGrid>
                <a:gridCol w="2598420"/>
                <a:gridCol w="1897380"/>
                <a:gridCol w="1485900"/>
                <a:gridCol w="1059180"/>
              </a:tblGrid>
              <a:tr h="565150"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Показатель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Жадный (только расстояние)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GreedyFeasibilityCheck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1" i="0">
                          <a:solidFill>
                            <a:schemeClr val="accent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Цель</a:t>
                      </a:r>
                      <a:endParaRPr sz="2000" b="1" i="0">
                        <a:solidFill>
                          <a:schemeClr val="accent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15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Точность сопоставления (MAR)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0,78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0,96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≥95%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451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Время выполнения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87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≤100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973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Улучшение стоимости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база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0,2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—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1" name="Изображение 1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285" y="1952625"/>
            <a:ext cx="4014470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овое поле 6"/>
          <p:cNvSpPr txBox="1"/>
          <p:nvPr/>
        </p:nvSpPr>
        <p:spPr>
          <a:xfrm>
            <a:off x="7193280" y="1048385"/>
            <a:ext cx="4770120" cy="692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Пример</a:t>
            </a:r>
            <a:r>
              <a:rPr lang="en-US" altLang="ru-RU"/>
              <a:t> </a:t>
            </a:r>
            <a:r>
              <a:rPr lang="en-US" altLang="en-US"/>
              <a:t>того</a:t>
            </a:r>
            <a:r>
              <a:rPr lang="en-US" altLang="ru-RU"/>
              <a:t>,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выполняется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r>
              <a:rPr lang="en-US" altLang="ru-RU"/>
              <a:t> GreedyfeasibilityCheck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серверной</a:t>
            </a:r>
            <a:r>
              <a:rPr lang="en-US" altLang="ru-RU"/>
              <a:t> </a:t>
            </a:r>
            <a:r>
              <a:rPr lang="en-US" altLang="en-US"/>
              <a:t>части</a:t>
            </a:r>
            <a:r>
              <a:rPr lang="en-US" altLang="ru-RU"/>
              <a:t>. </a:t>
            </a:r>
            <a:r>
              <a:rPr lang="en-US" altLang="en-US"/>
              <a:t>Рисунок</a:t>
            </a:r>
            <a:r>
              <a:rPr lang="en-US" altLang="ru-RU"/>
              <a:t> 4.1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отчете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ru-RU"/>
              <a:t> </a:t>
            </a:r>
            <a:r>
              <a:rPr lang="en-US" altLang="en-US"/>
              <a:t>Геопространственный</a:t>
            </a:r>
            <a:r>
              <a:rPr lang="en-US" altLang="ru-RU"/>
              <a:t> </a:t>
            </a:r>
            <a:r>
              <a:rPr lang="en-US" altLang="en-US"/>
              <a:t>поиск</a:t>
            </a:r>
            <a:r>
              <a:rPr lang="en-US" altLang="ru-RU"/>
              <a:t> (Geohash + </a:t>
            </a:r>
            <a:r>
              <a:rPr lang="en-US" altLang="en-US"/>
              <a:t>гаверсинус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551180" y="964565"/>
            <a:ext cx="7687310" cy="1260475"/>
          </a:xfrm>
        </p:spPr>
        <p:txBody>
          <a:bodyPr/>
          <a:p>
            <a:r>
              <a:rPr lang="en-US" altLang="en-US" b="1"/>
              <a:t>Назначение</a:t>
            </a:r>
            <a:r>
              <a:rPr lang="en-US" altLang="ru-RU"/>
              <a:t>: </a:t>
            </a:r>
            <a:r>
              <a:rPr lang="en-US" altLang="en-US"/>
              <a:t>быстрый</a:t>
            </a:r>
            <a:r>
              <a:rPr lang="en-US" altLang="ru-RU"/>
              <a:t> </a:t>
            </a:r>
            <a:r>
              <a:rPr lang="en-US" altLang="en-US"/>
              <a:t>поиск</a:t>
            </a:r>
            <a:r>
              <a:rPr lang="en-US" altLang="ru-RU"/>
              <a:t> </a:t>
            </a:r>
            <a:r>
              <a:rPr lang="en-US" altLang="en-US"/>
              <a:t>местоположения</a:t>
            </a:r>
            <a:r>
              <a:rPr lang="en-US" altLang="ru-RU"/>
              <a:t> </a:t>
            </a:r>
            <a:r>
              <a:rPr lang="en-US" altLang="en-US"/>
              <a:t>водителей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радиусе</a:t>
            </a:r>
            <a:r>
              <a:rPr lang="en-US" altLang="ru-RU"/>
              <a:t> 5 </a:t>
            </a:r>
            <a:r>
              <a:rPr lang="en-US" altLang="en-US"/>
              <a:t>км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точки</a:t>
            </a:r>
            <a:r>
              <a:rPr lang="en-US" altLang="ru-RU"/>
              <a:t> </a:t>
            </a:r>
            <a:r>
              <a:rPr lang="en-US" altLang="en-US"/>
              <a:t>забора</a:t>
            </a:r>
            <a:endParaRPr lang="en-US" altLang="en-US"/>
          </a:p>
          <a:p>
            <a:r>
              <a:rPr lang="en-US" altLang="en-US" b="1"/>
              <a:t>Двухэтапная</a:t>
            </a:r>
            <a:r>
              <a:rPr lang="en-US" altLang="ru-RU" b="1"/>
              <a:t> </a:t>
            </a:r>
            <a:r>
              <a:rPr lang="en-US" altLang="en-US" b="1"/>
              <a:t>фильтрация</a:t>
            </a:r>
            <a:endParaRPr lang="en-US" altLang="en-US" b="1"/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551180" y="2225040"/>
          <a:ext cx="6050280" cy="4251325"/>
        </p:xfrm>
        <a:graphic>
          <a:graphicData uri="http://schemas.openxmlformats.org/drawingml/2006/table">
            <a:tbl>
              <a:tblPr/>
              <a:tblGrid>
                <a:gridCol w="1055370"/>
                <a:gridCol w="1969770"/>
                <a:gridCol w="1512570"/>
                <a:gridCol w="1512570"/>
              </a:tblGrid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Этап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Метод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Операции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Время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679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Фильтр по префиксу Geohash (5 символов)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Сравнение строк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7,5 мс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143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Точное вычисление расстояния по формуле гаверсинуса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Тригонометрические вычисления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5,1 мс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05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Оптимизированный итог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—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—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12,7 мс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05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Полный поиск (без фильтра)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Гаверсинус для всех 671 водителей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671 вычисление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62,3 мс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Замещающий текст 2"/>
          <p:cNvSpPr>
            <a:spLocks noGrp="1"/>
          </p:cNvSpPr>
          <p:nvPr/>
        </p:nvSpPr>
        <p:spPr>
          <a:xfrm>
            <a:off x="6692900" y="1432560"/>
            <a:ext cx="5499735" cy="4902200"/>
          </a:xfrm>
          <a:prstGeom prst="rect">
            <a:avLst/>
          </a:prstGeom>
        </p:spPr>
        <p:txBody>
          <a:bodyPr vert="horz" lIns="0" tIns="0" rIns="0" bIns="0" numCol="1" spcCol="720000" rtlCol="0">
            <a:normAutofit fontScale="25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780" indent="-27178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Ключевые</a:t>
            </a:r>
            <a:r>
              <a:rPr lang="en-US" altLang="ru-RU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  <a:endParaRPr lang="en-US" altLang="ru-RU" sz="8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Ускорение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4,9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раза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быстрее</a:t>
            </a:r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Сокращение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кандидатов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671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водителей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исключено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99,3%)</a:t>
            </a:r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Для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базы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10 000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водителей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полный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поиск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~928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мс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оптимизированный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остаётся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12-15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мс</a:t>
            </a:r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Почему</a:t>
            </a:r>
            <a:r>
              <a:rPr lang="en-US" altLang="ru-RU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lang="en-US" altLang="ru-RU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важно</a:t>
            </a:r>
            <a:r>
              <a:rPr lang="en-US" altLang="ru-RU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каршеринга</a:t>
            </a:r>
            <a:endParaRPr lang="en-US" altLang="ru-RU" sz="8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Когда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несколько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клиентов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бронируют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транспортное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средство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системе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приходится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многократно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искать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ближайших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водителей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Оптимизация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Geohash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делает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масштабируемым</a:t>
            </a:r>
            <a:r>
              <a:rPr lang="en-US" altLang="ru-RU" sz="8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 sz="80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Алгоритм</a:t>
            </a:r>
            <a:r>
              <a:rPr lang="en-US" altLang="ru-RU"/>
              <a:t> 3: </a:t>
            </a:r>
            <a:r>
              <a:rPr lang="en-US" altLang="en-US"/>
              <a:t>Оптимизация</a:t>
            </a:r>
            <a:r>
              <a:rPr lang="en-US" altLang="ru-RU"/>
              <a:t> </a:t>
            </a:r>
            <a:r>
              <a:rPr lang="en-US" altLang="en-US"/>
              <a:t>маршрута</a:t>
            </a:r>
            <a:r>
              <a:rPr lang="en-US" altLang="ru-RU"/>
              <a:t> (VRP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ограничениями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551180" y="909320"/>
            <a:ext cx="6941820" cy="5039995"/>
          </a:xfrm>
        </p:spPr>
        <p:txBody>
          <a:bodyPr>
            <a:normAutofit/>
          </a:bodyPr>
          <a:p>
            <a:r>
              <a:rPr lang="en-US" altLang="en-US"/>
              <a:t>Назначение</a:t>
            </a:r>
            <a:r>
              <a:rPr lang="en-US" altLang="ru-RU"/>
              <a:t>: </a:t>
            </a:r>
            <a:r>
              <a:rPr lang="en-US" altLang="en-US"/>
              <a:t>построение</a:t>
            </a:r>
            <a:r>
              <a:rPr lang="en-US" altLang="ru-RU"/>
              <a:t> </a:t>
            </a:r>
            <a:r>
              <a:rPr lang="en-US" altLang="en-US"/>
              <a:t>оптимальной</a:t>
            </a:r>
            <a:r>
              <a:rPr lang="en-US" altLang="ru-RU"/>
              <a:t> </a:t>
            </a:r>
            <a:r>
              <a:rPr lang="en-US" altLang="en-US"/>
              <a:t>последовательности</a:t>
            </a:r>
            <a:r>
              <a:rPr lang="en-US" altLang="ru-RU"/>
              <a:t> </a:t>
            </a:r>
            <a:r>
              <a:rPr lang="en-US" altLang="en-US"/>
              <a:t>заборов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доставок</a:t>
            </a:r>
            <a:r>
              <a:rPr lang="en-US" altLang="ru-RU"/>
              <a:t>, </a:t>
            </a:r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одно</a:t>
            </a:r>
            <a:r>
              <a:rPr lang="en-US" altLang="ru-RU"/>
              <a:t> </a:t>
            </a:r>
            <a:r>
              <a:rPr lang="en-US" altLang="en-US"/>
              <a:t>транспортное</a:t>
            </a:r>
            <a:r>
              <a:rPr lang="en-US" altLang="ru-RU"/>
              <a:t> </a:t>
            </a:r>
            <a:r>
              <a:rPr lang="en-US" altLang="en-US"/>
              <a:t>средство</a:t>
            </a:r>
            <a:r>
              <a:rPr lang="en-US" altLang="ru-RU"/>
              <a:t> </a:t>
            </a:r>
            <a:r>
              <a:rPr lang="en-US" altLang="en-US"/>
              <a:t>обслуживает</a:t>
            </a:r>
            <a:r>
              <a:rPr lang="en-US" altLang="ru-RU"/>
              <a:t> </a:t>
            </a:r>
            <a:r>
              <a:rPr lang="en-US" altLang="en-US"/>
              <a:t>несколько</a:t>
            </a:r>
            <a:r>
              <a:rPr lang="en-US" altLang="ru-RU"/>
              <a:t> </a:t>
            </a:r>
            <a:r>
              <a:rPr lang="en-US" altLang="en-US"/>
              <a:t>клиентов</a:t>
            </a:r>
            <a:endParaRPr lang="en-US" altLang="ru-RU"/>
          </a:p>
          <a:p>
            <a:r>
              <a:rPr lang="en-US" altLang="en-US" b="1"/>
              <a:t>Ключевые</a:t>
            </a:r>
            <a:r>
              <a:rPr lang="en-US" altLang="ru-RU" b="1"/>
              <a:t> </a:t>
            </a:r>
            <a:r>
              <a:rPr lang="en-US" altLang="en-US" b="1"/>
              <a:t>ограничения</a:t>
            </a:r>
            <a:endParaRPr lang="en-US" altLang="ru-RU" b="1"/>
          </a:p>
          <a:p>
            <a:r>
              <a:rPr lang="en-US" altLang="en-US"/>
              <a:t>- Доставка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произойти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того</a:t>
            </a:r>
            <a:r>
              <a:rPr lang="en-US" altLang="ru-RU"/>
              <a:t>,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соответствующий</a:t>
            </a:r>
            <a:r>
              <a:rPr lang="en-US" altLang="ru-RU"/>
              <a:t> </a:t>
            </a:r>
            <a:r>
              <a:rPr lang="en-US" altLang="en-US"/>
              <a:t>заказ</a:t>
            </a:r>
            <a:r>
              <a:rPr lang="en-US" altLang="ru-RU"/>
              <a:t> </a:t>
            </a:r>
            <a:r>
              <a:rPr lang="en-US" altLang="en-US"/>
              <a:t>будет</a:t>
            </a:r>
            <a:r>
              <a:rPr lang="en-US" altLang="ru-RU"/>
              <a:t> </a:t>
            </a:r>
            <a:r>
              <a:rPr lang="en-US" altLang="en-US"/>
              <a:t>забран</a:t>
            </a:r>
            <a:r>
              <a:rPr lang="en-US" altLang="ru-RU"/>
              <a:t> (</a:t>
            </a:r>
            <a:r>
              <a:rPr lang="en-US" altLang="en-US"/>
              <a:t>ограничение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заказ</a:t>
            </a:r>
            <a:r>
              <a:rPr lang="en-US" altLang="ru-RU"/>
              <a:t>)</a:t>
            </a:r>
            <a:endParaRPr lang="en-US" altLang="ru-RU"/>
          </a:p>
          <a:p>
            <a:r>
              <a:rPr lang="en-US" altLang="en-US"/>
              <a:t>- Заборы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доставки</a:t>
            </a:r>
            <a:r>
              <a:rPr lang="en-US" altLang="ru-RU"/>
              <a:t> </a:t>
            </a:r>
            <a:r>
              <a:rPr lang="en-US" altLang="en-US"/>
              <a:t>разных</a:t>
            </a:r>
            <a:r>
              <a:rPr lang="en-US" altLang="ru-RU"/>
              <a:t> </a:t>
            </a:r>
            <a:r>
              <a:rPr lang="en-US" altLang="en-US"/>
              <a:t>заказов</a:t>
            </a:r>
            <a:r>
              <a:rPr lang="en-US" altLang="ru-RU"/>
              <a:t> </a:t>
            </a:r>
            <a:r>
              <a:rPr lang="en-US" altLang="en-US"/>
              <a:t>могут</a:t>
            </a:r>
            <a:r>
              <a:rPr lang="en-US" altLang="ru-RU"/>
              <a:t> </a:t>
            </a:r>
            <a:r>
              <a:rPr lang="en-US" altLang="en-US"/>
              <a:t>чередоваться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endParaRPr lang="en-US" altLang="en-US"/>
          </a:p>
          <a:p>
            <a:r>
              <a:rPr lang="en-US" altLang="en-US"/>
              <a:t>- Срочные</a:t>
            </a:r>
            <a:r>
              <a:rPr lang="en-US" altLang="ru-RU"/>
              <a:t> </a:t>
            </a:r>
            <a:r>
              <a:rPr lang="en-US" altLang="en-US"/>
              <a:t>заказы</a:t>
            </a:r>
            <a:r>
              <a:rPr lang="en-US" altLang="ru-RU"/>
              <a:t> </a:t>
            </a:r>
            <a:r>
              <a:rPr lang="en-US" altLang="en-US"/>
              <a:t>получают</a:t>
            </a:r>
            <a:r>
              <a:rPr lang="en-US" altLang="ru-RU"/>
              <a:t> </a:t>
            </a:r>
            <a:r>
              <a:rPr lang="en-US" altLang="en-US"/>
              <a:t>приоритетное</a:t>
            </a:r>
            <a:r>
              <a:rPr lang="en-US" altLang="ru-RU"/>
              <a:t> </a:t>
            </a:r>
            <a:r>
              <a:rPr lang="en-US" altLang="en-US"/>
              <a:t>положение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последовательности</a:t>
            </a:r>
            <a:endParaRPr lang="en-US" altLang="en-US"/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7493000" y="1508760"/>
          <a:ext cx="4514850" cy="3604260"/>
        </p:xfrm>
        <a:graphic>
          <a:graphicData uri="http://schemas.openxmlformats.org/drawingml/2006/table">
            <a:tbl>
              <a:tblPr/>
              <a:tblGrid>
                <a:gridCol w="1504950"/>
                <a:gridCol w="1504950"/>
                <a:gridCol w="1504950"/>
              </a:tblGrid>
              <a:tr h="36385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Сценарий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Алгоритм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Сложность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081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Начальный маршрут (множество остановок)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Ближайший сосед + оптимизация 2-opt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O(n²)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959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Динамическая вставка (новый заказ в движении)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Жадная вставка с минимальным увеличением пути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O(n²) на вставку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7112000" y="100488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sz="2000" b="1" i="0">
                <a:solidFill>
                  <a:schemeClr val="accent1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Два сценария</a:t>
            </a:r>
            <a:endParaRPr sz="2000" b="1" i="0">
              <a:solidFill>
                <a:schemeClr val="accent1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>
                <a:sym typeface="+mn-ea"/>
              </a:rPr>
              <a:t>Функции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оптимизации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маршрута</a:t>
            </a:r>
            <a:endParaRPr lang="ru-RU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551180" y="1036955"/>
            <a:ext cx="5545455" cy="5039995"/>
          </a:xfrm>
        </p:spPr>
        <p:txBody>
          <a:bodyPr>
            <a:normAutofit fontScale="70000"/>
          </a:bodyPr>
          <a:p>
            <a:r>
              <a:rPr lang="en-US" altLang="ru-RU"/>
              <a:t>• </a:t>
            </a:r>
            <a:r>
              <a:rPr lang="en-US" altLang="en-US"/>
              <a:t>КЛАСТЕРИЗАЦИЯ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ОСНОВЕ</a:t>
            </a:r>
            <a:r>
              <a:rPr lang="en-US" altLang="ru-RU"/>
              <a:t> </a:t>
            </a:r>
            <a:r>
              <a:rPr lang="en-US" altLang="en-US"/>
              <a:t>РЕГИОНОВ</a:t>
            </a:r>
            <a:r>
              <a:rPr lang="en-US" altLang="ru-RU"/>
              <a:t> - </a:t>
            </a:r>
            <a:r>
              <a:rPr lang="en-US" altLang="en-US"/>
              <a:t>остановки</a:t>
            </a:r>
            <a:r>
              <a:rPr lang="en-US" altLang="ru-RU"/>
              <a:t> </a:t>
            </a:r>
            <a:r>
              <a:rPr lang="en-US" altLang="en-US"/>
              <a:t>группируются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географической</a:t>
            </a:r>
            <a:r>
              <a:rPr lang="en-US" altLang="ru-RU"/>
              <a:t> </a:t>
            </a:r>
            <a:r>
              <a:rPr lang="en-US" altLang="en-US"/>
              <a:t>близости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радиусе</a:t>
            </a:r>
            <a:r>
              <a:rPr lang="en-US" altLang="ru-RU"/>
              <a:t> 5 </a:t>
            </a:r>
            <a:r>
              <a:rPr lang="en-US" altLang="en-US"/>
              <a:t>км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ИНТЕЛЛЕКТУАЛЬНОЕ</a:t>
            </a:r>
            <a:r>
              <a:rPr lang="en-US" altLang="ru-RU"/>
              <a:t> </a:t>
            </a:r>
            <a:r>
              <a:rPr lang="en-US" altLang="en-US"/>
              <a:t>ЧЕРЕДОВАНИЕ</a:t>
            </a:r>
            <a:r>
              <a:rPr lang="en-US" altLang="ru-RU"/>
              <a:t> -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пределах</a:t>
            </a:r>
            <a:r>
              <a:rPr lang="en-US" altLang="ru-RU"/>
              <a:t> </a:t>
            </a:r>
            <a:r>
              <a:rPr lang="en-US" altLang="en-US"/>
              <a:t>региона</a:t>
            </a:r>
            <a:r>
              <a:rPr lang="en-US" altLang="ru-RU"/>
              <a:t> </a:t>
            </a:r>
            <a:r>
              <a:rPr lang="en-US" altLang="en-US"/>
              <a:t>водитель</a:t>
            </a:r>
            <a:r>
              <a:rPr lang="en-US" altLang="ru-RU"/>
              <a:t>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забрать</a:t>
            </a:r>
            <a:r>
              <a:rPr lang="en-US" altLang="ru-RU"/>
              <a:t>, </a:t>
            </a:r>
            <a:r>
              <a:rPr lang="en-US" altLang="en-US"/>
              <a:t>так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доставить</a:t>
            </a:r>
            <a:r>
              <a:rPr lang="en-US" altLang="ru-RU"/>
              <a:t> </a:t>
            </a:r>
            <a:r>
              <a:rPr lang="en-US" altLang="en-US"/>
              <a:t>пассажиров</a:t>
            </a:r>
            <a:r>
              <a:rPr lang="en-US" altLang="ru-RU"/>
              <a:t>, </a:t>
            </a:r>
            <a:r>
              <a:rPr lang="en-US" altLang="en-US"/>
              <a:t>прежде</a:t>
            </a:r>
            <a:r>
              <a:rPr lang="en-US" altLang="ru-RU"/>
              <a:t> </a:t>
            </a:r>
            <a:r>
              <a:rPr lang="en-US" altLang="en-US"/>
              <a:t>чем</a:t>
            </a:r>
            <a:r>
              <a:rPr lang="en-US" altLang="ru-RU"/>
              <a:t> </a:t>
            </a:r>
            <a:r>
              <a:rPr lang="en-US" altLang="en-US"/>
              <a:t>отправиться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следующий</a:t>
            </a:r>
            <a:r>
              <a:rPr lang="en-US" altLang="ru-RU"/>
              <a:t> </a:t>
            </a:r>
            <a:r>
              <a:rPr lang="en-US" altLang="en-US"/>
              <a:t>регион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СОБЛЮДЕНИЕ</a:t>
            </a:r>
            <a:r>
              <a:rPr lang="en-US" altLang="ru-RU"/>
              <a:t> </a:t>
            </a:r>
            <a:r>
              <a:rPr lang="en-US" altLang="en-US"/>
              <a:t>ОГРАНИЧЕНИЙ</a:t>
            </a:r>
            <a:r>
              <a:rPr lang="en-US" altLang="ru-RU"/>
              <a:t> - </a:t>
            </a:r>
            <a:r>
              <a:rPr lang="en-US" altLang="en-US"/>
              <a:t>доставка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быть</a:t>
            </a:r>
            <a:r>
              <a:rPr lang="en-US" altLang="ru-RU"/>
              <a:t> </a:t>
            </a:r>
            <a:r>
              <a:rPr lang="en-US" altLang="en-US"/>
              <a:t>произведена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ее</a:t>
            </a:r>
            <a:r>
              <a:rPr lang="en-US" altLang="ru-RU"/>
              <a:t> </a:t>
            </a:r>
            <a:r>
              <a:rPr lang="en-US" altLang="en-US"/>
              <a:t>получения</a:t>
            </a:r>
            <a:r>
              <a:rPr lang="en-US" altLang="ru-RU"/>
              <a:t>, </a:t>
            </a:r>
            <a:r>
              <a:rPr lang="en-US" altLang="en-US"/>
              <a:t>но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доставка</a:t>
            </a:r>
            <a:r>
              <a:rPr lang="en-US" altLang="ru-RU"/>
              <a:t> </a:t>
            </a:r>
            <a:r>
              <a:rPr lang="en-US" altLang="en-US"/>
              <a:t>могут</a:t>
            </a:r>
            <a:r>
              <a:rPr lang="en-US" altLang="ru-RU"/>
              <a:t> </a:t>
            </a:r>
            <a:r>
              <a:rPr lang="en-US" altLang="en-US"/>
              <a:t>быть</a:t>
            </a:r>
            <a:r>
              <a:rPr lang="en-US" altLang="ru-RU"/>
              <a:t> </a:t>
            </a:r>
            <a:r>
              <a:rPr lang="en-US" altLang="en-US"/>
              <a:t>смешаны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разных</a:t>
            </a:r>
            <a:r>
              <a:rPr lang="en-US" altLang="ru-RU"/>
              <a:t> </a:t>
            </a:r>
            <a:r>
              <a:rPr lang="en-US" altLang="en-US"/>
              <a:t>заказах</a:t>
            </a:r>
            <a:endParaRPr lang="en-US" altLang="en-US"/>
          </a:p>
          <a:p>
            <a:r>
              <a:rPr lang="en-US" altLang="ru-RU"/>
              <a:t>• </a:t>
            </a:r>
            <a:r>
              <a:rPr lang="en-US" altLang="en-US"/>
              <a:t>РАСЧЕТ</a:t>
            </a:r>
            <a:r>
              <a:rPr lang="en-US" altLang="ru-RU"/>
              <a:t> </a:t>
            </a:r>
            <a:r>
              <a:rPr lang="en-US" altLang="en-US"/>
              <a:t>ОПТИМАЛЬНОГО</a:t>
            </a:r>
            <a:r>
              <a:rPr lang="en-US" altLang="ru-RU"/>
              <a:t> </a:t>
            </a:r>
            <a:r>
              <a:rPr lang="en-US" altLang="en-US"/>
              <a:t>ПУТИ</a:t>
            </a:r>
            <a:r>
              <a:rPr lang="en-US" altLang="ru-RU"/>
              <a:t> - </a:t>
            </a:r>
            <a:r>
              <a:rPr lang="en-US" altLang="en-US"/>
              <a:t>использует</a:t>
            </a:r>
            <a:r>
              <a:rPr lang="en-US" altLang="ru-RU"/>
              <a:t> TSP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ограничениями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поиска</a:t>
            </a:r>
            <a:r>
              <a:rPr lang="en-US" altLang="ru-RU"/>
              <a:t> </a:t>
            </a:r>
            <a:r>
              <a:rPr lang="en-US" altLang="en-US"/>
              <a:t>кратчайшего</a:t>
            </a:r>
            <a:r>
              <a:rPr lang="en-US" altLang="ru-RU"/>
              <a:t> </a:t>
            </a:r>
            <a:r>
              <a:rPr lang="en-US" altLang="en-US"/>
              <a:t>маршрута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соответствует</a:t>
            </a:r>
            <a:r>
              <a:rPr lang="en-US" altLang="ru-RU"/>
              <a:t> </a:t>
            </a:r>
            <a:r>
              <a:rPr lang="en-US" altLang="en-US"/>
              <a:t>правилам</a:t>
            </a:r>
            <a:r>
              <a:rPr lang="en-US" altLang="ru-RU"/>
              <a:t> </a:t>
            </a:r>
            <a:r>
              <a:rPr lang="en-US" altLang="en-US"/>
              <a:t>получения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доставки</a:t>
            </a:r>
            <a:endParaRPr lang="en-US" altLang="en-US"/>
          </a:p>
          <a:p>
            <a:r>
              <a:rPr lang="en-US" altLang="en-US"/>
              <a:t>  - Для</a:t>
            </a:r>
            <a:r>
              <a:rPr lang="en-US" altLang="ru-RU"/>
              <a:t> </a:t>
            </a:r>
            <a:r>
              <a:rPr lang="en-US" altLang="en-US"/>
              <a:t>каждого</a:t>
            </a:r>
            <a:r>
              <a:rPr lang="en-US" altLang="ru-RU"/>
              <a:t> </a:t>
            </a:r>
            <a:r>
              <a:rPr lang="en-US" altLang="en-US"/>
              <a:t>заказа</a:t>
            </a:r>
            <a:r>
              <a:rPr lang="en-US" altLang="ru-RU"/>
              <a:t> </a:t>
            </a:r>
            <a:r>
              <a:rPr lang="en-US" altLang="en-US"/>
              <a:t>предусмотрены</a:t>
            </a:r>
            <a:r>
              <a:rPr lang="en-US" altLang="ru-RU"/>
              <a:t> </a:t>
            </a:r>
            <a:r>
              <a:rPr lang="en-US" altLang="en-US"/>
              <a:t>отдельные</a:t>
            </a:r>
            <a:r>
              <a:rPr lang="en-US" altLang="ru-RU"/>
              <a:t> </a:t>
            </a:r>
            <a:r>
              <a:rPr lang="en-US" altLang="en-US"/>
              <a:t>пункты</a:t>
            </a:r>
            <a:r>
              <a:rPr lang="en-US" altLang="ru-RU"/>
              <a:t> </a:t>
            </a:r>
            <a:r>
              <a:rPr lang="en-US" altLang="en-US"/>
              <a:t>получения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доставки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ru-RU"/>
              <a:t>  - </a:t>
            </a:r>
            <a:r>
              <a:rPr lang="en-US" altLang="en-US"/>
              <a:t>Следуйте</a:t>
            </a:r>
            <a:r>
              <a:rPr lang="en-US" altLang="ru-RU"/>
              <a:t> </a:t>
            </a:r>
            <a:r>
              <a:rPr lang="en-US" altLang="en-US"/>
              <a:t>пронумерованной</a:t>
            </a:r>
            <a:r>
              <a:rPr lang="en-US" altLang="ru-RU"/>
              <a:t> </a:t>
            </a:r>
            <a:r>
              <a:rPr lang="en-US" altLang="en-US"/>
              <a:t>последовательности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достижения</a:t>
            </a:r>
            <a:r>
              <a:rPr lang="en-US" altLang="ru-RU"/>
              <a:t> </a:t>
            </a:r>
            <a:r>
              <a:rPr lang="en-US" altLang="en-US"/>
              <a:t>оптимальной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r>
              <a:rPr lang="en-US" altLang="ru-RU"/>
              <a:t> </a:t>
            </a:r>
            <a:r>
              <a:rPr lang="en-US" altLang="en-US"/>
              <a:t>маршрута</a:t>
            </a:r>
            <a:endParaRPr lang="en-US" altLang="en-US"/>
          </a:p>
          <a:p>
            <a:r>
              <a:rPr lang="en-US" altLang="en-US"/>
              <a:t>  - Маршрут</a:t>
            </a:r>
            <a:r>
              <a:rPr lang="en-US" altLang="ru-RU"/>
              <a:t> </a:t>
            </a:r>
            <a:r>
              <a:rPr lang="en-US" altLang="en-US"/>
              <a:t>автоматически</a:t>
            </a:r>
            <a:r>
              <a:rPr lang="en-US" altLang="ru-RU"/>
              <a:t> </a:t>
            </a:r>
            <a:r>
              <a:rPr lang="en-US" altLang="en-US"/>
              <a:t>переоптимизируется</a:t>
            </a:r>
            <a:r>
              <a:rPr lang="en-US" altLang="ru-RU"/>
              <a:t> </a:t>
            </a:r>
            <a:r>
              <a:rPr lang="en-US" altLang="en-US"/>
              <a:t>после</a:t>
            </a:r>
            <a:r>
              <a:rPr lang="en-US" altLang="ru-RU"/>
              <a:t> </a:t>
            </a:r>
            <a:r>
              <a:rPr lang="en-US" altLang="en-US"/>
              <a:t>каждого</a:t>
            </a:r>
            <a:r>
              <a:rPr lang="en-US" altLang="ru-RU"/>
              <a:t> </a:t>
            </a:r>
            <a:r>
              <a:rPr lang="en-US" altLang="en-US"/>
              <a:t>завершения</a:t>
            </a:r>
            <a:endParaRPr lang="en-US" altLang="en-US"/>
          </a:p>
        </p:txBody>
      </p:sp>
      <p:pic>
        <p:nvPicPr>
          <p:cNvPr id="198" name="Изображение 20"/>
          <p:cNvPicPr>
            <a:picLocks noChangeAspect="1"/>
          </p:cNvPicPr>
          <p:nvPr/>
        </p:nvPicPr>
        <p:blipFill>
          <a:blip r:embed="rId1"/>
          <a:srcRect t="13194"/>
          <a:stretch>
            <a:fillRect/>
          </a:stretch>
        </p:blipFill>
        <p:spPr>
          <a:xfrm>
            <a:off x="6096635" y="1950720"/>
            <a:ext cx="5838190" cy="45453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Текстовое поле 3"/>
          <p:cNvSpPr txBox="1"/>
          <p:nvPr/>
        </p:nvSpPr>
        <p:spPr>
          <a:xfrm>
            <a:off x="6165850" y="1036955"/>
            <a:ext cx="57689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/>
              <a:t>Пример</a:t>
            </a:r>
            <a:r>
              <a:rPr lang="en-US" altLang="ru-RU" b="1"/>
              <a:t> </a:t>
            </a:r>
            <a:r>
              <a:rPr lang="en-US" altLang="en-US" b="1"/>
              <a:t>оптимизации</a:t>
            </a:r>
            <a:r>
              <a:rPr lang="en-US" altLang="ru-RU" b="1"/>
              <a:t> </a:t>
            </a:r>
            <a:r>
              <a:rPr lang="en-US" altLang="en-US" b="1"/>
              <a:t>маршрута</a:t>
            </a:r>
            <a:r>
              <a:rPr lang="en-US" altLang="ru-RU" b="1"/>
              <a:t> </a:t>
            </a:r>
            <a:r>
              <a:rPr lang="en-US" altLang="en-US" b="1"/>
              <a:t>на</a:t>
            </a:r>
            <a:r>
              <a:rPr lang="en-US" altLang="ru-RU" b="1"/>
              <a:t> </a:t>
            </a:r>
            <a:r>
              <a:rPr lang="en-US" altLang="en-US" b="1"/>
              <a:t>рисунке</a:t>
            </a:r>
            <a:r>
              <a:rPr lang="en-US" altLang="ru-RU" b="1"/>
              <a:t> 3.13 </a:t>
            </a:r>
            <a:r>
              <a:rPr lang="en-US" altLang="en-US" b="1"/>
              <a:t>в</a:t>
            </a:r>
            <a:r>
              <a:rPr lang="en-US" altLang="ru-RU" b="1"/>
              <a:t> </a:t>
            </a:r>
            <a:r>
              <a:rPr lang="en-US" altLang="en-US" b="1"/>
              <a:t>отчете</a:t>
            </a:r>
            <a:endParaRPr lang="ru-RU" alt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242070"/>
            <a:ext cx="9608330" cy="664210"/>
          </a:xfrm>
        </p:spPr>
        <p:txBody>
          <a:bodyPr/>
          <a:p>
            <a:r>
              <a:rPr lang="en-US" altLang="en-US"/>
              <a:t>Алгоритм</a:t>
            </a:r>
            <a:r>
              <a:rPr lang="en-US" altLang="ru-RU"/>
              <a:t> 4: </a:t>
            </a:r>
            <a:r>
              <a:rPr lang="en-US" altLang="en-US"/>
              <a:t>Планирование</a:t>
            </a:r>
            <a:r>
              <a:rPr lang="en-US" altLang="ru-RU"/>
              <a:t> </a:t>
            </a:r>
            <a:r>
              <a:rPr lang="en-US" altLang="en-US"/>
              <a:t>загрузки</a:t>
            </a:r>
            <a:r>
              <a:rPr lang="en-US" altLang="ru-RU"/>
              <a:t> (3D </a:t>
            </a:r>
            <a:r>
              <a:rPr lang="en-US" altLang="en-US"/>
              <a:t>бин</a:t>
            </a:r>
            <a:r>
              <a:rPr lang="en-US" altLang="ru-RU"/>
              <a:t>-</a:t>
            </a:r>
            <a:r>
              <a:rPr lang="en-US" altLang="en-US"/>
              <a:t>пакинг</a:t>
            </a:r>
            <a:r>
              <a:rPr lang="en-US" altLang="ru-RU"/>
              <a:t> + </a:t>
            </a:r>
            <a:r>
              <a:rPr lang="en-US" altLang="en-US"/>
              <a:t>центр</a:t>
            </a:r>
            <a:r>
              <a:rPr lang="en-US" altLang="ru-RU"/>
              <a:t> </a:t>
            </a:r>
            <a:r>
              <a:rPr lang="en-US" altLang="en-US"/>
              <a:t>масс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en-US" b="1"/>
              <a:t>Назначение</a:t>
            </a:r>
            <a:r>
              <a:rPr lang="en-US" altLang="ru-RU"/>
              <a:t>: </a:t>
            </a:r>
            <a:r>
              <a:rPr lang="en-US" altLang="en-US"/>
              <a:t>генерация</a:t>
            </a:r>
            <a:r>
              <a:rPr lang="en-US" altLang="ru-RU"/>
              <a:t> </a:t>
            </a:r>
            <a:r>
              <a:rPr lang="en-US" altLang="en-US"/>
              <a:t>безопасной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эффективной</a:t>
            </a:r>
            <a:r>
              <a:rPr lang="en-US" altLang="ru-RU"/>
              <a:t> </a:t>
            </a:r>
            <a:r>
              <a:rPr lang="en-US" altLang="en-US"/>
              <a:t>схемы</a:t>
            </a:r>
            <a:r>
              <a:rPr lang="en-US" altLang="ru-RU"/>
              <a:t> </a:t>
            </a:r>
            <a:r>
              <a:rPr lang="en-US" altLang="en-US"/>
              <a:t>размещения</a:t>
            </a:r>
            <a:r>
              <a:rPr lang="en-US" altLang="ru-RU"/>
              <a:t> </a:t>
            </a:r>
            <a:r>
              <a:rPr lang="en-US" altLang="en-US"/>
              <a:t>груза</a:t>
            </a:r>
            <a:r>
              <a:rPr lang="en-US" altLang="ru-RU"/>
              <a:t> </a:t>
            </a:r>
            <a:r>
              <a:rPr lang="en-US" altLang="en-US"/>
              <a:t>внутри</a:t>
            </a:r>
            <a:r>
              <a:rPr lang="en-US" altLang="ru-RU"/>
              <a:t> </a:t>
            </a:r>
            <a:r>
              <a:rPr lang="en-US" altLang="en-US"/>
              <a:t>транспортного</a:t>
            </a:r>
            <a:r>
              <a:rPr lang="en-US" altLang="ru-RU"/>
              <a:t> </a:t>
            </a:r>
            <a:r>
              <a:rPr lang="en-US" altLang="en-US"/>
              <a:t>средства</a:t>
            </a:r>
            <a:endParaRPr lang="en-US" altLang="ru-RU"/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en-US" altLang="en-US" b="1"/>
              <a:t>Два</a:t>
            </a:r>
            <a:r>
              <a:rPr lang="en-US" altLang="ru-RU" b="1"/>
              <a:t> </a:t>
            </a:r>
            <a:r>
              <a:rPr lang="en-US" altLang="en-US" b="1"/>
              <a:t>компонента</a:t>
            </a:r>
            <a:endParaRPr lang="en-US" altLang="en-US" b="1"/>
          </a:p>
          <a:p>
            <a:pPr fontAlgn="auto">
              <a:lnSpc>
                <a:spcPct val="100000"/>
              </a:lnSpc>
              <a:spcAft>
                <a:spcPts val="0"/>
              </a:spcAft>
            </a:pPr>
            <a:r>
              <a:rPr lang="en-US" altLang="ru-RU"/>
              <a:t>1. 3D </a:t>
            </a:r>
            <a:r>
              <a:rPr lang="en-US" altLang="en-US"/>
              <a:t>бин</a:t>
            </a:r>
            <a:r>
              <a:rPr lang="en-US" altLang="ru-RU"/>
              <a:t>-</a:t>
            </a:r>
            <a:r>
              <a:rPr lang="en-US" altLang="en-US"/>
              <a:t>пакинг</a:t>
            </a:r>
            <a:r>
              <a:rPr lang="en-US" altLang="ru-RU"/>
              <a:t> (</a:t>
            </a:r>
            <a:r>
              <a:rPr lang="en-US" altLang="en-US"/>
              <a:t>эвристика</a:t>
            </a:r>
            <a:r>
              <a:rPr lang="en-US" altLang="ru-RU"/>
              <a:t> </a:t>
            </a:r>
            <a:r>
              <a:rPr lang="en-US" altLang="en-US"/>
              <a:t>слоями</a:t>
            </a:r>
            <a:r>
              <a:rPr lang="en-US" altLang="ru-RU"/>
              <a:t>)</a:t>
            </a:r>
            <a:endParaRPr lang="en-US" altLang="ru-RU"/>
          </a:p>
          <a:p>
            <a:endParaRPr lang="en-US" altLang="en-US"/>
          </a:p>
          <a:p>
            <a:endParaRPr lang="en-US" altLang="ru-RU" b="1"/>
          </a:p>
          <a:p>
            <a:endParaRPr lang="en-US" altLang="en-US" b="1"/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535305" y="2886075"/>
          <a:ext cx="6322695" cy="1950720"/>
        </p:xfrm>
        <a:graphic>
          <a:graphicData uri="http://schemas.openxmlformats.org/drawingml/2006/table">
            <a:tbl>
              <a:tblPr/>
              <a:tblGrid>
                <a:gridCol w="2107565"/>
                <a:gridCol w="2107565"/>
                <a:gridCol w="2107565"/>
              </a:tblGrid>
              <a:tr h="5562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Метод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Использование объёма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Сложность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Жадный (по объёму)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0,78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 log n)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2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3D бин-пакинг с эвристикой слоёв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0,86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O(n²)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2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Оптимальное решение (перебор)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90-95%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NP-трудна (непрактично)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7726680" y="1676400"/>
            <a:ext cx="406400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2. Расчёт центра масс</a:t>
            </a:r>
            <a:endParaRPr lang="en-US" altLang="en-US" sz="2000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altLang="en-US" sz="20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- Формула: X_cm = Σ(m_i × x_i) / Σ(m_i)</a:t>
            </a:r>
            <a:endParaRPr lang="en-US" altLang="en-US" sz="20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- Условие безопасной зоны: L/3 ≤ X_cm ≤ 2L/3 (средняя треть длины кузова)</a:t>
            </a:r>
            <a:endParaRPr lang="en-US" altLang="en-US" sz="20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altLang="en-US" sz="200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en-US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Влияние</a:t>
            </a:r>
            <a:r>
              <a:rPr lang="en-US" altLang="ru-RU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на</a:t>
            </a:r>
            <a:r>
              <a:rPr lang="en-US" altLang="ru-RU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2">
                    <a:lumMod val="90000"/>
                    <a:lumOff val="10000"/>
                  </a:schemeClr>
                </a:solidFill>
              </a:rPr>
              <a:t>безопасность</a:t>
            </a:r>
            <a:endParaRPr lang="en-US" altLang="ru-RU" sz="2000" b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Все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20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сгенерированных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планов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загрузки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имели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центр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масс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в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безопасной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зоне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.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Это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предотвращает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нестабильность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транспортного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средства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повреждение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груза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дорожно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-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транспортные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</a:rPr>
              <a:t>происшествия</a:t>
            </a:r>
            <a:r>
              <a:rPr lang="en-US" altLang="ru-RU" sz="200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  <a:endParaRPr lang="en-US" altLang="ru-RU" sz="20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35305" y="49364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chemeClr val="tx2">
                    <a:lumMod val="90000"/>
                    <a:lumOff val="10000"/>
                  </a:schemeClr>
                </a:solidFill>
                <a:sym typeface="+mn-ea"/>
              </a:rPr>
              <a:t>Результаты тестирования (20 планов загрузки)</a:t>
            </a:r>
            <a:endParaRPr lang="en-US" altLang="en-US" sz="2000">
              <a:solidFill>
                <a:schemeClr val="tx2">
                  <a:lumMod val="90000"/>
                  <a:lumOff val="10000"/>
                </a:schemeClr>
              </a:solidFill>
              <a:sym typeface="+mn-ea"/>
            </a:endParaRPr>
          </a:p>
        </p:txBody>
      </p:sp>
      <p:graphicFrame>
        <p:nvGraphicFramePr>
          <p:cNvPr id="7" name="Таблица 6"/>
          <p:cNvGraphicFramePr/>
          <p:nvPr>
            <p:custDataLst>
              <p:tags r:id="rId2"/>
            </p:custDataLst>
          </p:nvPr>
        </p:nvGraphicFramePr>
        <p:xfrm>
          <a:off x="535305" y="5434965"/>
          <a:ext cx="6322695" cy="1243330"/>
        </p:xfrm>
        <a:graphic>
          <a:graphicData uri="http://schemas.openxmlformats.org/drawingml/2006/table">
            <a:tbl>
              <a:tblPr/>
              <a:tblGrid>
                <a:gridCol w="4642485"/>
                <a:gridCol w="930275"/>
                <a:gridCol w="749935"/>
              </a:tblGrid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Показатель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Цель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Факт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34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Коэффициент использования объёма (VUR)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≥85%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0,86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Индекс стабильности загрузки (LSI)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1180" y="1008380"/>
            <a:ext cx="2905125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Методика</a:t>
            </a:r>
            <a:r>
              <a:rPr lang="en-US" alt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тестирования</a:t>
            </a:r>
            <a:endParaRPr lang="en-US" altLang="en-US" i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Таблица 1"/>
          <p:cNvGraphicFramePr/>
          <p:nvPr>
            <p:custDataLst>
              <p:tags r:id="rId1"/>
            </p:custDataLst>
          </p:nvPr>
        </p:nvGraphicFramePr>
        <p:xfrm>
          <a:off x="550545" y="1362075"/>
          <a:ext cx="11334115" cy="2926715"/>
        </p:xfrm>
        <a:graphic>
          <a:graphicData uri="http://schemas.openxmlformats.org/drawingml/2006/table">
            <a:tbl>
              <a:tblPr/>
              <a:tblGrid>
                <a:gridCol w="2783840"/>
                <a:gridCol w="2844165"/>
                <a:gridCol w="5706110"/>
              </a:tblGrid>
              <a:tr h="3124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Тип теста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Инструменты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Данные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Модульное тестирование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Jest, пользовательские скрипты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 тестовых заказов (рюкзак), 671 водитель (геопоиск)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Интеграционное тестирование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Postman, терминал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22 API-эндпоинта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72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Нагрузочное тестирование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Artillery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10, 50, 100 пользователей/сек в течение 30 секунд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63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Приёмочное тестирование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Браузер, Docker Desktop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Реальные пользовательские сценарии (создание → принятие → отслеживание → доставка)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Таблица 3"/>
          <p:cNvGraphicFramePr/>
          <p:nvPr>
            <p:custDataLst>
              <p:tags r:id="rId2"/>
            </p:custDataLst>
          </p:nvPr>
        </p:nvGraphicFramePr>
        <p:xfrm>
          <a:off x="550545" y="4792980"/>
          <a:ext cx="8702675" cy="1839595"/>
        </p:xfrm>
        <a:graphic>
          <a:graphicData uri="http://schemas.openxmlformats.org/drawingml/2006/table">
            <a:tbl>
              <a:tblPr/>
              <a:tblGrid>
                <a:gridCol w="1740535"/>
                <a:gridCol w="1740535"/>
                <a:gridCol w="1740535"/>
                <a:gridCol w="1740535"/>
                <a:gridCol w="1740535"/>
              </a:tblGrid>
              <a:tr h="72771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Уровень нагрузки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Всего запросов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Успешно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Успешность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Медианное время отклика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 польз/сек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94,6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 польз/сек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1500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28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0,019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2143,5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7045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100 польз/сек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3000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29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0,0097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3011,6 мс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Текстовое поле 4"/>
          <p:cNvSpPr txBox="1"/>
          <p:nvPr/>
        </p:nvSpPr>
        <p:spPr>
          <a:xfrm>
            <a:off x="551180" y="4288790"/>
            <a:ext cx="840168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2000" b="1" i="0">
                <a:solidFill>
                  <a:schemeClr val="accent1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Результаты нагрузочного тестирования (Core i3, 8 ГБ RAM)</a:t>
            </a:r>
            <a:endParaRPr sz="2000" b="1" i="0">
              <a:solidFill>
                <a:schemeClr val="accent1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483725" y="4910455"/>
            <a:ext cx="2446020" cy="1317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из</a:t>
            </a:r>
            <a:r>
              <a:rPr lang="en-US" altLang="ru-RU"/>
              <a:t> </a:t>
            </a:r>
            <a:r>
              <a:rPr lang="en-US" altLang="en-US"/>
              <a:t>таблицы</a:t>
            </a:r>
            <a:r>
              <a:rPr lang="en-US" altLang="ru-RU"/>
              <a:t> 4.2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отчете</a:t>
            </a:r>
            <a:r>
              <a:rPr lang="en-US" altLang="ru-RU"/>
              <a:t> </a:t>
            </a:r>
            <a:r>
              <a:rPr lang="en-US" altLang="en-US"/>
              <a:t>показано</a:t>
            </a:r>
            <a:r>
              <a:rPr lang="en-US" altLang="ru-RU"/>
              <a:t>,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были</a:t>
            </a:r>
            <a:r>
              <a:rPr lang="en-US" altLang="ru-RU"/>
              <a:t> </a:t>
            </a:r>
            <a:r>
              <a:rPr lang="en-US" altLang="en-US"/>
              <a:t>получены</a:t>
            </a:r>
            <a:r>
              <a:rPr lang="en-US" altLang="ru-RU"/>
              <a:t> </a:t>
            </a:r>
            <a:r>
              <a:rPr lang="en-US" altLang="en-US"/>
              <a:t>значения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результате</a:t>
            </a:r>
            <a:r>
              <a:rPr lang="en-US" altLang="ru-RU"/>
              <a:t> </a:t>
            </a:r>
            <a:r>
              <a:rPr lang="en-US" altLang="en-US"/>
              <a:t>тестирования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Ключевые</a:t>
            </a:r>
            <a:r>
              <a:rPr lang="en-US" altLang="ru-RU"/>
              <a:t> </a:t>
            </a:r>
            <a:r>
              <a:rPr lang="en-US" altLang="en-US"/>
              <a:t>выводы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551180" y="1036955"/>
            <a:ext cx="6864985" cy="5636895"/>
          </a:xfrm>
        </p:spPr>
        <p:txBody>
          <a:bodyPr>
            <a:normAutofit lnSpcReduction="20000"/>
          </a:bodyPr>
          <a:p>
            <a:r>
              <a:rPr lang="en-US" altLang="en-US"/>
              <a:t>- Система</a:t>
            </a:r>
            <a:r>
              <a:rPr lang="en-US" altLang="ru-RU"/>
              <a:t> </a:t>
            </a:r>
            <a:r>
              <a:rPr lang="en-US" altLang="en-US"/>
              <a:t>отлично</a:t>
            </a:r>
            <a:r>
              <a:rPr lang="en-US" altLang="ru-RU"/>
              <a:t> </a:t>
            </a:r>
            <a:r>
              <a:rPr lang="en-US" altLang="en-US"/>
              <a:t>работает</a:t>
            </a:r>
            <a:r>
              <a:rPr lang="en-US" altLang="ru-RU"/>
              <a:t> </a:t>
            </a:r>
            <a:r>
              <a:rPr lang="en-US" altLang="en-US"/>
              <a:t>при</a:t>
            </a:r>
            <a:r>
              <a:rPr lang="en-US" altLang="ru-RU"/>
              <a:t> 10 </a:t>
            </a:r>
            <a:r>
              <a:rPr lang="en-US" altLang="en-US"/>
              <a:t>пользователях</a:t>
            </a:r>
            <a:r>
              <a:rPr lang="en-US" altLang="ru-RU"/>
              <a:t>/</a:t>
            </a:r>
            <a:r>
              <a:rPr lang="en-US" altLang="en-US"/>
              <a:t>сек</a:t>
            </a:r>
            <a:r>
              <a:rPr lang="en-US" altLang="ru-RU"/>
              <a:t> (</a:t>
            </a:r>
            <a:r>
              <a:rPr lang="en-US" altLang="en-US"/>
              <a:t>программное</a:t>
            </a:r>
            <a:r>
              <a:rPr lang="en-US" altLang="ru-RU"/>
              <a:t> </a:t>
            </a:r>
            <a:r>
              <a:rPr lang="en-US" altLang="en-US"/>
              <a:t>обеспечение</a:t>
            </a:r>
            <a:r>
              <a:rPr lang="en-US" altLang="ru-RU"/>
              <a:t> </a:t>
            </a:r>
            <a:r>
              <a:rPr lang="en-US" altLang="en-US"/>
              <a:t>корректно</a:t>
            </a:r>
            <a:r>
              <a:rPr lang="en-US" altLang="ru-RU"/>
              <a:t>)</a:t>
            </a:r>
            <a:endParaRPr lang="en-US" altLang="ru-RU"/>
          </a:p>
          <a:p>
            <a:r>
              <a:rPr lang="en-US" altLang="en-US"/>
              <a:t>- Спад</a:t>
            </a:r>
            <a:r>
              <a:rPr lang="en-US" altLang="ru-RU"/>
              <a:t> </a:t>
            </a:r>
            <a:r>
              <a:rPr lang="en-US" altLang="en-US"/>
              <a:t>при</a:t>
            </a:r>
            <a:r>
              <a:rPr lang="en-US" altLang="ru-RU"/>
              <a:t> 50+ </a:t>
            </a:r>
            <a:r>
              <a:rPr lang="en-US" altLang="en-US"/>
              <a:t>пользователях</a:t>
            </a:r>
            <a:r>
              <a:rPr lang="en-US" altLang="ru-RU"/>
              <a:t>/</a:t>
            </a:r>
            <a:r>
              <a:rPr lang="en-US" altLang="en-US"/>
              <a:t>сек</a:t>
            </a:r>
            <a:r>
              <a:rPr lang="en-US" altLang="ru-RU"/>
              <a:t> </a:t>
            </a:r>
            <a:r>
              <a:rPr lang="en-US" altLang="en-US"/>
              <a:t>вызван</a:t>
            </a:r>
            <a:r>
              <a:rPr lang="en-US" altLang="ru-RU"/>
              <a:t> </a:t>
            </a:r>
            <a:r>
              <a:rPr lang="en-US" altLang="en-US"/>
              <a:t>исчерпанием</a:t>
            </a:r>
            <a:r>
              <a:rPr lang="en-US" altLang="ru-RU"/>
              <a:t> </a:t>
            </a:r>
            <a:r>
              <a:rPr lang="en-US" altLang="en-US"/>
              <a:t>аппаратных</a:t>
            </a:r>
            <a:r>
              <a:rPr lang="en-US" altLang="ru-RU"/>
              <a:t> </a:t>
            </a:r>
            <a:r>
              <a:rPr lang="en-US" altLang="en-US"/>
              <a:t>ресурсов</a:t>
            </a:r>
            <a:r>
              <a:rPr lang="en-US" altLang="ru-RU"/>
              <a:t> (Core i3 + 8 </a:t>
            </a:r>
            <a:r>
              <a:rPr lang="en-US" altLang="en-US"/>
              <a:t>ГБ</a:t>
            </a:r>
            <a:r>
              <a:rPr lang="en-US" altLang="ru-RU"/>
              <a:t> RAM)</a:t>
            </a:r>
            <a:endParaRPr lang="en-US" altLang="ru-RU"/>
          </a:p>
          <a:p>
            <a:r>
              <a:rPr lang="en-US" altLang="en-US"/>
              <a:t>- Для</a:t>
            </a:r>
            <a:r>
              <a:rPr lang="en-US" altLang="ru-RU"/>
              <a:t> </a:t>
            </a:r>
            <a:r>
              <a:rPr lang="en-US" altLang="en-US"/>
              <a:t>производства</a:t>
            </a:r>
            <a:r>
              <a:rPr lang="en-US" altLang="ru-RU"/>
              <a:t>: </a:t>
            </a:r>
            <a:r>
              <a:rPr lang="en-US" altLang="en-US"/>
              <a:t>развернуть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облачной</a:t>
            </a:r>
            <a:r>
              <a:rPr lang="en-US" altLang="ru-RU"/>
              <a:t> </a:t>
            </a:r>
            <a:r>
              <a:rPr lang="en-US" altLang="en-US"/>
              <a:t>инфраструктуре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горизонтальным</a:t>
            </a:r>
            <a:r>
              <a:rPr lang="en-US" altLang="ru-RU"/>
              <a:t> </a:t>
            </a:r>
            <a:r>
              <a:rPr lang="en-US" altLang="en-US"/>
              <a:t>масштабированием</a:t>
            </a:r>
            <a:endParaRPr lang="en-US" altLang="ru-RU"/>
          </a:p>
          <a:p>
            <a:r>
              <a:rPr lang="en-US" altLang="en-US" b="1"/>
              <a:t>Проверка</a:t>
            </a:r>
            <a:r>
              <a:rPr lang="en-US" altLang="ru-RU" b="1"/>
              <a:t> </a:t>
            </a:r>
            <a:r>
              <a:rPr lang="en-US" altLang="en-US" b="1"/>
              <a:t>безопасности</a:t>
            </a:r>
            <a:r>
              <a:rPr lang="en-US" altLang="ru-RU" b="1"/>
              <a:t> API</a:t>
            </a:r>
            <a:endParaRPr lang="en-US" altLang="ru-RU" b="1"/>
          </a:p>
          <a:p>
            <a:r>
              <a:rPr lang="en-US" altLang="en-US"/>
              <a:t> - Отсутствие</a:t>
            </a:r>
            <a:r>
              <a:rPr lang="en-US" altLang="ru-RU"/>
              <a:t> x-service-secret </a:t>
            </a:r>
            <a:r>
              <a:rPr lang="en-US" altLang="en-US"/>
              <a:t>→</a:t>
            </a:r>
            <a:r>
              <a:rPr lang="en-US" altLang="ru-RU"/>
              <a:t> HTTP 401 Unauthorized</a:t>
            </a:r>
            <a:endParaRPr lang="en-US" altLang="ru-RU"/>
          </a:p>
          <a:p>
            <a:r>
              <a:rPr lang="en-US" altLang="en-US"/>
              <a:t> - Отсутствие</a:t>
            </a:r>
            <a:r>
              <a:rPr lang="en-US" altLang="ru-RU"/>
              <a:t> </a:t>
            </a:r>
            <a:r>
              <a:rPr lang="en-US" altLang="en-US"/>
              <a:t>обязательных</a:t>
            </a:r>
            <a:r>
              <a:rPr lang="en-US" altLang="ru-RU"/>
              <a:t> </a:t>
            </a:r>
            <a:r>
              <a:rPr lang="en-US" altLang="en-US"/>
              <a:t>полей</a:t>
            </a:r>
            <a:r>
              <a:rPr lang="en-US" altLang="ru-RU"/>
              <a:t> (</a:t>
            </a:r>
            <a:r>
              <a:rPr lang="en-US" altLang="en-US"/>
              <a:t>адрес</a:t>
            </a:r>
            <a:r>
              <a:rPr lang="en-US" altLang="ru-RU"/>
              <a:t>, </a:t>
            </a:r>
            <a:r>
              <a:rPr lang="en-US" altLang="en-US"/>
              <a:t>вес</a:t>
            </a:r>
            <a:r>
              <a:rPr lang="en-US" altLang="ru-RU"/>
              <a:t>) </a:t>
            </a:r>
            <a:r>
              <a:rPr lang="en-US" altLang="en-US"/>
              <a:t>→</a:t>
            </a:r>
            <a:r>
              <a:rPr lang="en-US" altLang="ru-RU"/>
              <a:t> HTTP 400 Bad Request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Сводка</a:t>
            </a:r>
            <a:r>
              <a:rPr lang="en-US" altLang="ru-RU"/>
              <a:t> </a:t>
            </a:r>
            <a:r>
              <a:rPr lang="en-US" altLang="en-US"/>
              <a:t>успешных</a:t>
            </a:r>
            <a:r>
              <a:rPr lang="en-US" altLang="ru-RU"/>
              <a:t> </a:t>
            </a:r>
            <a:r>
              <a:rPr lang="en-US" altLang="en-US"/>
              <a:t>тестов</a:t>
            </a:r>
            <a:r>
              <a:rPr lang="en-US" altLang="ru-RU"/>
              <a:t> </a:t>
            </a:r>
            <a:r>
              <a:rPr lang="en-US" altLang="en-US"/>
              <a:t>всех</a:t>
            </a:r>
            <a:r>
              <a:rPr lang="en-US" altLang="ru-RU"/>
              <a:t> </a:t>
            </a:r>
            <a:r>
              <a:rPr lang="en-US" altLang="en-US"/>
              <a:t>эндпоинтов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микросервисе</a:t>
            </a:r>
            <a:r>
              <a:rPr lang="en-US" altLang="ru-RU"/>
              <a:t> </a:t>
            </a:r>
            <a:r>
              <a:rPr lang="en-US" altLang="en-US"/>
              <a:t>заказов</a:t>
            </a:r>
            <a:r>
              <a:rPr lang="en-US" altLang="ru-RU"/>
              <a:t> </a:t>
            </a:r>
            <a:r>
              <a:rPr lang="ru-RU" altLang="ru-RU"/>
              <a:t>из рисунке 4.12 в отчет показано на права</a:t>
            </a:r>
            <a:endParaRPr lang="en-US" altLang="en-US"/>
          </a:p>
          <a:p>
            <a:endParaRPr lang="en-US" altLang="ru-RU"/>
          </a:p>
          <a:p>
            <a:endParaRPr lang="en-US" altLang="ru-RU"/>
          </a:p>
        </p:txBody>
      </p:sp>
      <p:pic>
        <p:nvPicPr>
          <p:cNvPr id="204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340" y="740410"/>
            <a:ext cx="4085590" cy="6012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1180" y="964565"/>
            <a:ext cx="253936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Сводка</a:t>
            </a:r>
            <a:r>
              <a:rPr lang="en-US" altLang="ru-RU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en-US" b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достижений</a:t>
            </a:r>
            <a:endParaRPr lang="en-US" altLang="en-US" b="1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Таблица 1"/>
          <p:cNvGraphicFramePr/>
          <p:nvPr>
            <p:custDataLst>
              <p:tags r:id="rId1"/>
            </p:custDataLst>
          </p:nvPr>
        </p:nvGraphicFramePr>
        <p:xfrm>
          <a:off x="551180" y="1303655"/>
          <a:ext cx="10986135" cy="5484495"/>
        </p:xfrm>
        <a:graphic>
          <a:graphicData uri="http://schemas.openxmlformats.org/drawingml/2006/table">
            <a:tbl>
              <a:tblPr/>
              <a:tblGrid>
                <a:gridCol w="7020560"/>
                <a:gridCol w="3965575"/>
              </a:tblGrid>
              <a:tr h="281940">
                <a:tc>
                  <a:txBody>
                    <a:bodyPr/>
                    <a:p>
                      <a:pPr algn="l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Задача</a:t>
                      </a:r>
                      <a:endParaRPr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Статус</a:t>
                      </a:r>
                      <a:endParaRPr sz="18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910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Анализ рынка и выявление технологических разрывов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Формулировка оптимизационной модели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Микросервисная архитектура (4 сервиса)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83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Проектирование базы данных (12 таблиц, пространственные индексы)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Алгоритм рюкзака (GreedyFeasibilityCheck)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 (96% точности)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341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Геопространственный поиск (Geohash + гаверсинус)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 (ускорение в 4,9 раза)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145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Оптимизация маршрута (VRP с ограничениями)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Выполнена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436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3D бин-пакинг + центр масс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 (VUR 86%, LSI 100%)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WebSocket-отслеживание в реальном времени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Выполнено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Клиентский веб-интерфейс + приложение водителя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Выполнены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API-эндпоинты (22 функциональных требования)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 полностью, 2 частично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341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Тестирование и валидация KPI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MAR 96%, SRT 94,6 мс, VUR 86%, LSI 100%</a:t>
                      </a:r>
                      <a:endParaRPr sz="18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Практическая</a:t>
            </a:r>
            <a:r>
              <a:rPr lang="en-US" altLang="ru-RU"/>
              <a:t> </a:t>
            </a:r>
            <a:r>
              <a:rPr lang="en-US" altLang="en-US"/>
              <a:t>значимость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en-US"/>
              <a:t>Создан</a:t>
            </a:r>
            <a:r>
              <a:rPr lang="en-US" altLang="ru-RU"/>
              <a:t> </a:t>
            </a:r>
            <a:r>
              <a:rPr lang="en-US" altLang="en-US"/>
              <a:t>действующий</a:t>
            </a:r>
            <a:r>
              <a:rPr lang="en-US" altLang="ru-RU"/>
              <a:t> </a:t>
            </a:r>
            <a:r>
              <a:rPr lang="en-US" altLang="en-US"/>
              <a:t>прототип</a:t>
            </a:r>
            <a:r>
              <a:rPr lang="en-US" altLang="ru-RU"/>
              <a:t> </a:t>
            </a:r>
            <a:r>
              <a:rPr lang="en-US" altLang="en-US"/>
              <a:t>платформы</a:t>
            </a:r>
            <a:r>
              <a:rPr lang="en-US" altLang="ru-RU"/>
              <a:t>, </a:t>
            </a:r>
            <a:r>
              <a:rPr lang="en-US" altLang="en-US"/>
              <a:t>позволяющий</a:t>
            </a:r>
            <a:r>
              <a:rPr lang="en-US" altLang="ru-RU"/>
              <a:t> </a:t>
            </a:r>
            <a:r>
              <a:rPr lang="en-US" altLang="en-US"/>
              <a:t>повысить</a:t>
            </a:r>
            <a:r>
              <a:rPr lang="en-US" altLang="ru-RU"/>
              <a:t> </a:t>
            </a:r>
            <a:r>
              <a:rPr lang="en-US" altLang="en-US"/>
              <a:t>точность</a:t>
            </a:r>
            <a:r>
              <a:rPr lang="en-US" altLang="ru-RU"/>
              <a:t> </a:t>
            </a:r>
            <a:r>
              <a:rPr lang="en-US" altLang="en-US"/>
              <a:t>назначения</a:t>
            </a:r>
            <a:r>
              <a:rPr lang="en-US" altLang="ru-RU"/>
              <a:t> </a:t>
            </a:r>
            <a:r>
              <a:rPr lang="en-US" altLang="en-US"/>
              <a:t>заказов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96%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сократить</a:t>
            </a:r>
            <a:r>
              <a:rPr lang="en-US" altLang="ru-RU"/>
              <a:t> </a:t>
            </a:r>
            <a:r>
              <a:rPr lang="en-US" altLang="en-US"/>
              <a:t>среднее</a:t>
            </a:r>
            <a:r>
              <a:rPr lang="en-US" altLang="ru-RU"/>
              <a:t> </a:t>
            </a:r>
            <a:r>
              <a:rPr lang="en-US" altLang="en-US"/>
              <a:t>время</a:t>
            </a:r>
            <a:r>
              <a:rPr lang="en-US" altLang="ru-RU"/>
              <a:t> </a:t>
            </a:r>
            <a:r>
              <a:rPr lang="en-US" altLang="en-US"/>
              <a:t>доставки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15%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сравнению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базовыми</a:t>
            </a:r>
            <a:r>
              <a:rPr lang="en-US" altLang="ru-RU"/>
              <a:t> </a:t>
            </a:r>
            <a:r>
              <a:rPr lang="en-US" altLang="en-US"/>
              <a:t>жадными</a:t>
            </a:r>
            <a:r>
              <a:rPr lang="en-US" altLang="ru-RU"/>
              <a:t> </a:t>
            </a:r>
            <a:r>
              <a:rPr lang="en-US" altLang="en-US"/>
              <a:t>алгоритмами</a:t>
            </a:r>
            <a:r>
              <a:rPr lang="en-US" altLang="ru-RU"/>
              <a:t>. </a:t>
            </a:r>
            <a:r>
              <a:rPr lang="en-US" altLang="en-US"/>
              <a:t>Платформа</a:t>
            </a:r>
            <a:r>
              <a:rPr lang="en-US" altLang="ru-RU"/>
              <a:t> </a:t>
            </a:r>
            <a:r>
              <a:rPr lang="en-US" altLang="en-US"/>
              <a:t>готова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пилотному</a:t>
            </a:r>
            <a:r>
              <a:rPr lang="en-US" altLang="ru-RU"/>
              <a:t> </a:t>
            </a:r>
            <a:r>
              <a:rPr lang="en-US" altLang="en-US"/>
              <a:t>внедрению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408123"/>
            <a:ext cx="9608330" cy="332105"/>
          </a:xfrm>
        </p:spPr>
        <p:txBody>
          <a:bodyPr/>
          <a:p>
            <a:r>
              <a:rPr lang="en-US" altLang="en-US"/>
              <a:t>Дальнейшие</a:t>
            </a:r>
            <a:r>
              <a:rPr lang="en-US" altLang="ru-RU"/>
              <a:t> </a:t>
            </a:r>
            <a:r>
              <a:rPr lang="en-US" altLang="en-US"/>
              <a:t>шаги</a:t>
            </a:r>
            <a:endParaRPr lang="en-US" altLang="en-US"/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sz="quarter" idx="12"/>
          </p:nvPr>
        </p:nvSpPr>
        <p:spPr>
          <a:xfrm>
            <a:off x="551180" y="1102360"/>
            <a:ext cx="10308590" cy="5755640"/>
          </a:xfrm>
        </p:spPr>
        <p:txBody>
          <a:bodyPr>
            <a:noAutofit/>
          </a:bodyPr>
          <a:p>
            <a:r>
              <a:rPr lang="en-US" altLang="en-US" sz="1900" b="1"/>
              <a:t>Рекомендации</a:t>
            </a:r>
            <a:r>
              <a:rPr lang="en-US" altLang="ru-RU" sz="1900" b="1"/>
              <a:t> </a:t>
            </a:r>
            <a:r>
              <a:rPr lang="en-US" altLang="en-US" sz="1900" b="1"/>
              <a:t>по</a:t>
            </a:r>
            <a:r>
              <a:rPr lang="en-US" altLang="ru-RU" sz="1900" b="1"/>
              <a:t> </a:t>
            </a:r>
            <a:r>
              <a:rPr lang="en-US" altLang="en-US" sz="1900" b="1"/>
              <a:t>дальнейшему</a:t>
            </a:r>
            <a:r>
              <a:rPr lang="en-US" altLang="ru-RU" sz="1900" b="1"/>
              <a:t> </a:t>
            </a:r>
            <a:r>
              <a:rPr lang="en-US" altLang="en-US" sz="1900" b="1"/>
              <a:t>развитию</a:t>
            </a:r>
            <a:endParaRPr lang="en-US" altLang="ru-RU" sz="1900" b="1"/>
          </a:p>
          <a:p>
            <a:r>
              <a:rPr lang="en-US" altLang="en-US" sz="1900"/>
              <a:t>1. Интеграция</a:t>
            </a:r>
            <a:r>
              <a:rPr lang="en-US" altLang="ru-RU" sz="1900"/>
              <a:t> </a:t>
            </a:r>
            <a:r>
              <a:rPr lang="en-US" altLang="en-US" sz="1900"/>
              <a:t>машинного</a:t>
            </a:r>
            <a:r>
              <a:rPr lang="en-US" altLang="ru-RU" sz="1900"/>
              <a:t> </a:t>
            </a:r>
            <a:r>
              <a:rPr lang="en-US" altLang="en-US" sz="1900"/>
              <a:t>обучения</a:t>
            </a:r>
            <a:r>
              <a:rPr lang="en-US" altLang="ru-RU" sz="1900"/>
              <a:t> – </a:t>
            </a:r>
            <a:r>
              <a:rPr lang="en-US" altLang="en-US" sz="1900"/>
              <a:t>прогнозирование</a:t>
            </a:r>
            <a:r>
              <a:rPr lang="en-US" altLang="ru-RU" sz="1900"/>
              <a:t> </a:t>
            </a:r>
            <a:r>
              <a:rPr lang="en-US" altLang="en-US" sz="1900"/>
              <a:t>спроса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динамическое</a:t>
            </a:r>
            <a:r>
              <a:rPr lang="en-US" altLang="ru-RU" sz="1900"/>
              <a:t> </a:t>
            </a:r>
            <a:r>
              <a:rPr lang="en-US" altLang="en-US" sz="1900"/>
              <a:t>ценообразование</a:t>
            </a:r>
            <a:r>
              <a:rPr lang="en-US" altLang="ru-RU" sz="1900"/>
              <a:t>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использованием</a:t>
            </a:r>
            <a:r>
              <a:rPr lang="en-US" altLang="ru-RU" sz="1900"/>
              <a:t> XGBoost + </a:t>
            </a:r>
            <a:r>
              <a:rPr lang="en-US" altLang="en-US" sz="1900"/>
              <a:t>нейронных</a:t>
            </a:r>
            <a:r>
              <a:rPr lang="en-US" altLang="ru-RU" sz="1900"/>
              <a:t> </a:t>
            </a:r>
            <a:r>
              <a:rPr lang="en-US" altLang="en-US" sz="1900"/>
              <a:t>сетей</a:t>
            </a:r>
            <a:r>
              <a:rPr lang="en-US" altLang="ru-RU" sz="1900"/>
              <a:t> (</a:t>
            </a:r>
            <a:r>
              <a:rPr lang="en-US" altLang="en-US" sz="1900"/>
              <a:t>модель</a:t>
            </a:r>
            <a:r>
              <a:rPr lang="en-US" altLang="ru-RU" sz="1900"/>
              <a:t> </a:t>
            </a:r>
            <a:r>
              <a:rPr lang="en-US" altLang="en-US" sz="1900"/>
              <a:t>разработана</a:t>
            </a:r>
            <a:r>
              <a:rPr lang="en-US" altLang="ru-RU" sz="1900"/>
              <a:t>, </a:t>
            </a:r>
            <a:r>
              <a:rPr lang="en-US" altLang="en-US" sz="1900"/>
              <a:t>ожидает</a:t>
            </a:r>
            <a:r>
              <a:rPr lang="en-US" altLang="ru-RU" sz="1900"/>
              <a:t> </a:t>
            </a:r>
            <a:r>
              <a:rPr lang="en-US" altLang="en-US" sz="1900"/>
              <a:t>пилотных</a:t>
            </a:r>
            <a:r>
              <a:rPr lang="en-US" altLang="ru-RU" sz="1900"/>
              <a:t> </a:t>
            </a:r>
            <a:r>
              <a:rPr lang="en-US" altLang="en-US" sz="1900"/>
              <a:t>данных</a:t>
            </a:r>
            <a:r>
              <a:rPr lang="en-US" altLang="ru-RU" sz="1900"/>
              <a:t>)</a:t>
            </a:r>
            <a:endParaRPr lang="en-US" altLang="ru-RU" sz="1900"/>
          </a:p>
          <a:p>
            <a:r>
              <a:rPr lang="en-US" altLang="en-US" sz="1900"/>
              <a:t>2. Нативное</a:t>
            </a:r>
            <a:r>
              <a:rPr lang="en-US" altLang="ru-RU" sz="1900"/>
              <a:t> </a:t>
            </a:r>
            <a:r>
              <a:rPr lang="en-US" altLang="en-US" sz="1900"/>
              <a:t>мобильное</a:t>
            </a:r>
            <a:r>
              <a:rPr lang="en-US" altLang="ru-RU" sz="1900"/>
              <a:t> </a:t>
            </a:r>
            <a:r>
              <a:rPr lang="en-US" altLang="en-US" sz="1900"/>
              <a:t>приложение</a:t>
            </a:r>
            <a:r>
              <a:rPr lang="en-US" altLang="ru-RU" sz="1900"/>
              <a:t> – iOS </a:t>
            </a:r>
            <a:r>
              <a:rPr lang="en-US" altLang="en-US" sz="1900"/>
              <a:t>и</a:t>
            </a:r>
            <a:r>
              <a:rPr lang="en-US" altLang="ru-RU" sz="1900"/>
              <a:t> Android </a:t>
            </a:r>
            <a:r>
              <a:rPr lang="en-US" altLang="en-US" sz="1900"/>
              <a:t>приложения</a:t>
            </a:r>
            <a:r>
              <a:rPr lang="en-US" altLang="ru-RU" sz="1900"/>
              <a:t> </a:t>
            </a:r>
            <a:r>
              <a:rPr lang="en-US" altLang="en-US" sz="1900"/>
              <a:t>для</a:t>
            </a:r>
            <a:r>
              <a:rPr lang="en-US" altLang="ru-RU" sz="1900"/>
              <a:t> </a:t>
            </a:r>
            <a:r>
              <a:rPr lang="en-US" altLang="en-US" sz="1900"/>
              <a:t>водителей</a:t>
            </a:r>
            <a:r>
              <a:rPr lang="en-US" altLang="ru-RU" sz="1900"/>
              <a:t>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офлайн</a:t>
            </a:r>
            <a:r>
              <a:rPr lang="en-US" altLang="ru-RU" sz="1900"/>
              <a:t>-</a:t>
            </a:r>
            <a:r>
              <a:rPr lang="en-US" altLang="en-US" sz="1900"/>
              <a:t>навигацией</a:t>
            </a:r>
            <a:endParaRPr lang="en-US" altLang="ru-RU" sz="1900"/>
          </a:p>
          <a:p>
            <a:r>
              <a:rPr lang="en-US" altLang="en-US" sz="1900"/>
              <a:t>3. Мультимодальное</a:t>
            </a:r>
            <a:r>
              <a:rPr lang="en-US" altLang="ru-RU" sz="1900"/>
              <a:t> </a:t>
            </a:r>
            <a:r>
              <a:rPr lang="en-US" altLang="en-US" sz="1900"/>
              <a:t>расширение</a:t>
            </a:r>
            <a:r>
              <a:rPr lang="en-US" altLang="ru-RU" sz="1900"/>
              <a:t> – </a:t>
            </a:r>
            <a:r>
              <a:rPr lang="en-US" altLang="en-US" sz="1900"/>
              <a:t>поддержка</a:t>
            </a:r>
            <a:r>
              <a:rPr lang="en-US" altLang="ru-RU" sz="1900"/>
              <a:t> </a:t>
            </a:r>
            <a:r>
              <a:rPr lang="en-US" altLang="en-US" sz="1900"/>
              <a:t>автомобилей</a:t>
            </a:r>
            <a:r>
              <a:rPr lang="en-US" altLang="ru-RU" sz="1900"/>
              <a:t>, </a:t>
            </a:r>
            <a:r>
              <a:rPr lang="en-US" altLang="en-US" sz="1900"/>
              <a:t>грузовиков</a:t>
            </a:r>
            <a:r>
              <a:rPr lang="en-US" altLang="ru-RU" sz="1900"/>
              <a:t>, </a:t>
            </a:r>
            <a:r>
              <a:rPr lang="en-US" altLang="en-US" sz="1900"/>
              <a:t>велосипедов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пеших</a:t>
            </a:r>
            <a:r>
              <a:rPr lang="en-US" altLang="ru-RU" sz="1900"/>
              <a:t> </a:t>
            </a:r>
            <a:r>
              <a:rPr lang="en-US" altLang="en-US" sz="1900"/>
              <a:t>курьеров</a:t>
            </a:r>
            <a:endParaRPr lang="en-US" altLang="ru-RU" sz="1900"/>
          </a:p>
          <a:p>
            <a:r>
              <a:rPr lang="en-US" altLang="en-US" sz="1900"/>
              <a:t>4. Пилотное</a:t>
            </a:r>
            <a:r>
              <a:rPr lang="en-US" altLang="ru-RU" sz="1900"/>
              <a:t> </a:t>
            </a:r>
            <a:r>
              <a:rPr lang="en-US" altLang="en-US" sz="1900"/>
              <a:t>внедрение</a:t>
            </a:r>
            <a:r>
              <a:rPr lang="en-US" altLang="ru-RU" sz="1900"/>
              <a:t> – </a:t>
            </a:r>
            <a:r>
              <a:rPr lang="en-US" altLang="en-US" sz="1900"/>
              <a:t>тестирование</a:t>
            </a:r>
            <a:r>
              <a:rPr lang="en-US" altLang="ru-RU" sz="1900"/>
              <a:t>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реальными</a:t>
            </a:r>
            <a:r>
              <a:rPr lang="en-US" altLang="ru-RU" sz="1900"/>
              <a:t> </a:t>
            </a:r>
            <a:r>
              <a:rPr lang="en-US" altLang="en-US" sz="1900"/>
              <a:t>логистическими</a:t>
            </a:r>
            <a:r>
              <a:rPr lang="en-US" altLang="ru-RU" sz="1900"/>
              <a:t> </a:t>
            </a:r>
            <a:r>
              <a:rPr lang="en-US" altLang="en-US" sz="1900"/>
              <a:t>компаниями</a:t>
            </a:r>
            <a:r>
              <a:rPr lang="en-US" altLang="ru-RU" sz="1900"/>
              <a:t> </a:t>
            </a:r>
            <a:r>
              <a:rPr lang="en-US" altLang="en-US" sz="1900"/>
              <a:t>в</a:t>
            </a:r>
            <a:r>
              <a:rPr lang="en-US" altLang="ru-RU" sz="1900"/>
              <a:t> </a:t>
            </a:r>
            <a:r>
              <a:rPr lang="en-US" altLang="en-US" sz="1900"/>
              <a:t>Москве</a:t>
            </a:r>
            <a:r>
              <a:rPr lang="en-US" altLang="ru-RU" sz="1900"/>
              <a:t>, </a:t>
            </a:r>
            <a:r>
              <a:rPr lang="en-US" altLang="en-US" sz="1900"/>
              <a:t>Санкт</a:t>
            </a:r>
            <a:r>
              <a:rPr lang="en-US" altLang="ru-RU" sz="1900"/>
              <a:t>-</a:t>
            </a:r>
            <a:r>
              <a:rPr lang="en-US" altLang="en-US" sz="1900"/>
              <a:t>Петербурге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Казани</a:t>
            </a:r>
            <a:endParaRPr lang="en-US" altLang="ru-RU" sz="1900"/>
          </a:p>
          <a:p>
            <a:r>
              <a:rPr lang="en-US" altLang="en-US" sz="1900"/>
              <a:t>5. Интеграция</a:t>
            </a:r>
            <a:r>
              <a:rPr lang="en-US" altLang="ru-RU" sz="1900"/>
              <a:t> </a:t>
            </a:r>
            <a:r>
              <a:rPr lang="en-US" altLang="en-US" sz="1900"/>
              <a:t>платёжного</a:t>
            </a:r>
            <a:r>
              <a:rPr lang="en-US" altLang="ru-RU" sz="1900"/>
              <a:t> </a:t>
            </a:r>
            <a:r>
              <a:rPr lang="en-US" altLang="en-US" sz="1900"/>
              <a:t>шлюза</a:t>
            </a:r>
            <a:r>
              <a:rPr lang="en-US" altLang="ru-RU" sz="1900"/>
              <a:t> – </a:t>
            </a:r>
            <a:r>
              <a:rPr lang="en-US" altLang="en-US" sz="1900"/>
              <a:t>завершение</a:t>
            </a:r>
            <a:r>
              <a:rPr lang="en-US" altLang="ru-RU" sz="1900"/>
              <a:t> FR-16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обработкой</a:t>
            </a:r>
            <a:r>
              <a:rPr lang="en-US" altLang="ru-RU" sz="1900"/>
              <a:t> </a:t>
            </a:r>
            <a:r>
              <a:rPr lang="en-US" altLang="en-US" sz="1900"/>
              <a:t>реальных</a:t>
            </a:r>
            <a:r>
              <a:rPr lang="en-US" altLang="ru-RU" sz="1900"/>
              <a:t> </a:t>
            </a:r>
            <a:r>
              <a:rPr lang="en-US" altLang="en-US" sz="1900"/>
              <a:t>транзакций</a:t>
            </a:r>
            <a:endParaRPr lang="en-US" altLang="ru-RU" sz="1900"/>
          </a:p>
          <a:p>
            <a:r>
              <a:rPr lang="en-US" altLang="en-US" sz="1900"/>
              <a:t>6. Административная</a:t>
            </a:r>
            <a:r>
              <a:rPr lang="en-US" altLang="ru-RU" sz="1900"/>
              <a:t> </a:t>
            </a:r>
            <a:r>
              <a:rPr lang="en-US" altLang="en-US" sz="1900"/>
              <a:t>панель</a:t>
            </a:r>
            <a:r>
              <a:rPr lang="en-US" altLang="ru-RU" sz="1900"/>
              <a:t> – </a:t>
            </a:r>
            <a:r>
              <a:rPr lang="en-US" altLang="en-US" sz="1900"/>
              <a:t>расширение</a:t>
            </a:r>
            <a:r>
              <a:rPr lang="en-US" altLang="ru-RU" sz="1900"/>
              <a:t> FR-20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расширенной</a:t>
            </a:r>
            <a:r>
              <a:rPr lang="en-US" altLang="ru-RU" sz="1900"/>
              <a:t> </a:t>
            </a:r>
            <a:r>
              <a:rPr lang="en-US" altLang="en-US" sz="1900"/>
              <a:t>аналитикой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модерацией</a:t>
            </a:r>
            <a:r>
              <a:rPr lang="en-US" altLang="ru-RU" sz="1900"/>
              <a:t> </a:t>
            </a:r>
            <a:r>
              <a:rPr lang="en-US" altLang="en-US" sz="1900"/>
              <a:t>водителей</a:t>
            </a:r>
            <a:endParaRPr lang="en-US" alt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4967416" y="2677297"/>
            <a:ext cx="6673723" cy="1997341"/>
          </a:xfrm>
        </p:spPr>
        <p:txBody>
          <a:bodyPr>
            <a:normAutofit/>
          </a:bodyPr>
          <a:lstStyle/>
          <a:p>
            <a:pPr algn="l"/>
            <a:r>
              <a:rPr lang="ru-RU" sz="4800" dirty="0"/>
              <a:t>Спасибо за внимание!</a:t>
            </a:r>
            <a:endParaRPr lang="ru-RU" sz="4800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52400" y="6094095"/>
            <a:ext cx="7914640" cy="6311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Контакты: lieson.mwale22@gmail.com</a:t>
            </a:r>
            <a:endParaRPr lang="en-US" altLang="zh-CN" sz="2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80*337"/>
  <p:tag name="TABLE_ENDDRAG_RECT" val="457*104*480*337"/>
</p:tagLst>
</file>

<file path=ppt/tags/tag2.xml><?xml version="1.0" encoding="utf-8"?>
<p:tagLst xmlns:p="http://schemas.openxmlformats.org/presentationml/2006/main">
  <p:tag name="TABLE_ENDDRAG_ORIGIN_RECT" val="448*309"/>
  <p:tag name="TABLE_ENDDRAG_RECT" val="496*84*448*309"/>
</p:tagLst>
</file>

<file path=ppt/tags/tag3.xml><?xml version="1.0" encoding="utf-8"?>
<p:tagLst xmlns:p="http://schemas.openxmlformats.org/presentationml/2006/main">
  <p:tag name="TABLE_ENDDRAG_ORIGIN_RECT" val="557*196"/>
  <p:tag name="TABLE_ENDDRAG_RECT" val="8*102*557*196"/>
</p:tagLst>
</file>

<file path=ppt/tags/tag4.xml><?xml version="1.0" encoding="utf-8"?>
<p:tagLst xmlns:p="http://schemas.openxmlformats.org/presentationml/2006/main">
  <p:tag name="TABLE_ENDDRAG_ORIGIN_RECT" val="554*163"/>
  <p:tag name="TABLE_ENDDRAG_RECT" val="8*340*554*163"/>
</p:tagLst>
</file>

<file path=ppt/tags/tag5.xml><?xml version="1.0" encoding="utf-8"?>
<p:tagLst xmlns:p="http://schemas.openxmlformats.org/presentationml/2006/main">
  <p:tag name="TABLE_ENDDRAG_ORIGIN_RECT" val="476*323"/>
  <p:tag name="TABLE_ENDDRAG_RECT" val="204*147*476*323"/>
</p:tagLst>
</file>

<file path=ppt/tags/tag6.xml><?xml version="1.0" encoding="utf-8"?>
<p:tagLst xmlns:p="http://schemas.openxmlformats.org/presentationml/2006/main">
  <p:tag name="TABLE_ENDDRAG_ORIGIN_RECT" val="355*283"/>
  <p:tag name="TABLE_ENDDRAG_RECT" val="588*200*355*283"/>
</p:tagLst>
</file>

<file path=ppt/tags/tag7.xml><?xml version="1.0" encoding="utf-8"?>
<p:tagLst xmlns:p="http://schemas.openxmlformats.org/presentationml/2006/main">
  <p:tag name="TABLE_ENDDRAG_ORIGIN_RECT" val="497*141"/>
  <p:tag name="TABLE_ENDDRAG_RECT" val="42*244*497*141"/>
</p:tagLst>
</file>

<file path=ppt/tags/tag8.xml><?xml version="1.0" encoding="utf-8"?>
<p:tagLst xmlns:p="http://schemas.openxmlformats.org/presentationml/2006/main">
  <p:tag name="TABLE_ENDDRAG_ORIGIN_RECT" val="497*95"/>
  <p:tag name="TABLE_ENDDRAG_RECT" val="42*402*497*95"/>
</p:tagLst>
</file>

<file path=ppt/tags/tag9.xml><?xml version="1.0" encoding="utf-8"?>
<p:tagLst xmlns:p="http://schemas.openxmlformats.org/presentationml/2006/main">
  <p:tag name="TABLE_ENDDRAG_ORIGIN_RECT" val="892*201"/>
  <p:tag name="TABLE_ENDDRAG_RECT" val="43*118*892*201"/>
</p:tagLst>
</file>

<file path=ppt/tags/tag10.xml><?xml version="1.0" encoding="utf-8"?>
<p:tagLst xmlns:p="http://schemas.openxmlformats.org/presentationml/2006/main">
  <p:tag name="TABLE_ENDDRAG_ORIGIN_RECT" val="685*137"/>
  <p:tag name="TABLE_ENDDRAG_RECT" val="43*402*685*137"/>
</p:tagLst>
</file>

<file path=ppt/tags/tag11.xml><?xml version="1.0" encoding="utf-8"?>
<p:tagLst xmlns:p="http://schemas.openxmlformats.org/presentationml/2006/main">
  <p:tag name="TABLE_ENDDRAG_ORIGIN_RECT" val="865*413"/>
  <p:tag name="TABLE_ENDDRAG_RECT" val="43*102*865*414"/>
</p:tagLst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0</TotalTime>
  <Words>13466</Words>
  <Application>WPS Presentation</Application>
  <PresentationFormat>Широкоэкранный</PresentationFormat>
  <Paragraphs>545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roboto</vt:lpstr>
      <vt:lpstr>Microsoft YaHei</vt:lpstr>
      <vt:lpstr>Arial Unicode MS</vt:lpstr>
      <vt:lpstr>Calibri</vt:lpstr>
      <vt:lpstr>Times New Roman</vt:lpstr>
      <vt:lpstr>黑体</vt:lpstr>
      <vt:lpstr>Times New Roman</vt:lpstr>
      <vt:lpstr>quote-cjk-patch</vt:lpstr>
      <vt:lpstr>Liberation Mono</vt:lpstr>
      <vt:lpstr>Титульная страница</vt:lpstr>
      <vt:lpstr>Текстовые блоки</vt:lpstr>
      <vt:lpstr>Дополнительные блоки</vt:lpstr>
      <vt:lpstr>Тема ВКР</vt:lpstr>
      <vt:lpstr>Цель</vt:lpstr>
      <vt:lpstr>Задачи</vt:lpstr>
      <vt:lpstr>Актуальность</vt:lpstr>
      <vt:lpstr>Выбранные методы, решения, подходы, стек технологий…</vt:lpstr>
      <vt:lpstr>Описание решения</vt:lpstr>
      <vt:lpstr>Результаты</vt:lpstr>
      <vt:lpstr>1. Основная метрика сортировки (плотность прибыли):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Тестирование</vt:lpstr>
      <vt:lpstr>PowerPoint 演示文稿</vt:lpstr>
      <vt:lpstr>Заключение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Алексей Малышев</dc:creator>
  <cp:lastModifiedBy>Lieson Mwale</cp:lastModifiedBy>
  <cp:revision>12</cp:revision>
  <dcterms:created xsi:type="dcterms:W3CDTF">2023-06-16T08:15:00Z</dcterms:created>
  <dcterms:modified xsi:type="dcterms:W3CDTF">2026-05-20T21:21:01Z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B8E1F2A6E1D64234AD7E2C59F86D0E3D_13</vt:lpwstr>
  </property>
  <property fmtid="{D5CDD505-2E9C-101B-9397-08002B2CF9AE}" pid="3" name="KSOProductBuildVer">
    <vt:lpwstr>1049-12.2.0.23202</vt:lpwstr>
  </property>
</Properties>
</file>