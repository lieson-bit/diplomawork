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302" r:id="rId3"/>
    <p:sldId id="2320" r:id="rId5"/>
    <p:sldId id="535" r:id="rId6"/>
    <p:sldId id="536" r:id="rId7"/>
    <p:sldId id="2321" r:id="rId8"/>
    <p:sldId id="2322" r:id="rId9"/>
    <p:sldId id="2323" r:id="rId10"/>
    <p:sldId id="2324" r:id="rId11"/>
    <p:sldId id="2325" r:id="rId12"/>
    <p:sldId id="2327" r:id="rId13"/>
    <p:sldId id="2326" r:id="rId14"/>
    <p:sldId id="2328" r:id="rId15"/>
    <p:sldId id="2329" r:id="rId16"/>
    <p:sldId id="2330" r:id="rId17"/>
    <p:sldId id="2331" r:id="rId18"/>
    <p:sldId id="2332" r:id="rId19"/>
    <p:sldId id="2335" r:id="rId20"/>
    <p:sldId id="2334" r:id="rId21"/>
    <p:sldId id="2336" r:id="rId22"/>
    <p:sldId id="2337" r:id="rId23"/>
    <p:sldId id="2338" r:id="rId24"/>
    <p:sldId id="2339" r:id="rId25"/>
    <p:sldId id="2340" r:id="rId26"/>
    <p:sldId id="2341" r:id="rId27"/>
    <p:sldId id="2342" r:id="rId28"/>
    <p:sldId id="2343" r:id="rId29"/>
  </p:sldIdLst>
  <p:sldSz cx="9144000" cy="5143500" type="screen16x9"/>
  <p:notesSz cx="6858000" cy="9144000"/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6" userDrawn="1">
          <p15:clr>
            <a:srgbClr val="A4A3A4"/>
          </p15:clr>
        </p15:guide>
        <p15:guide id="2" pos="28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0F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70" d="100"/>
          <a:sy n="70" d="100"/>
        </p:scale>
        <p:origin x="2706" y="1140"/>
      </p:cViewPr>
      <p:guideLst>
        <p:guide orient="horz" pos="1686"/>
        <p:guide pos="285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4A3340-C542-46E3-BB6B-1E3F28D53E8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EAA4AF-B0AE-42C7-9AD8-C74E868F580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468313" y="2788444"/>
            <a:ext cx="8207375" cy="812006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469900" y="3705225"/>
            <a:ext cx="8212138" cy="735806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D40AF32D-10BE-4790-B7AC-2A24A0EA4461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</p:spPr>
        <p:txBody>
          <a:bodyPr/>
          <a:lstStyle>
            <a:lvl1pPr marL="0" indent="0">
              <a:buNone/>
              <a:defRPr sz="1800"/>
            </a:lvl1pPr>
            <a:lvl2pPr marL="342900" indent="0">
              <a:buNone/>
              <a:defRPr sz="1500"/>
            </a:lvl2pPr>
            <a:lvl3pPr marL="685800" indent="0">
              <a:buNone/>
              <a:defRPr sz="135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881063"/>
            <a:ext cx="4038600" cy="3714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881063"/>
            <a:ext cx="4038600" cy="37147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3844"/>
            <a:ext cx="7886700" cy="99417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260872"/>
            <a:ext cx="3868737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1878806"/>
            <a:ext cx="3868737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788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788" cy="276344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Замещающая дата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8" name="Замещающий 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9" name="Замещающий 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Замещающая дата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Замещающий 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мещающая дата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3" name="Замещающий 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4" name="Замещающий 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42900"/>
            <a:ext cx="2949575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0569"/>
            <a:ext cx="4629150" cy="3655219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1543050"/>
            <a:ext cx="2949575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Замещающая дата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7" name="Замещающий 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42875"/>
            <a:ext cx="2057400" cy="44529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2875"/>
            <a:ext cx="6019800" cy="44529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Замещающая дата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5" name="Замещающий 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6" name="Замещающий 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24468F-6682-48AA-B5F4-BEF8E7F9833C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82897F-7A41-40D7-BC9E-F666B07C585D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8" Type="http://schemas.openxmlformats.org/officeDocument/2006/relationships/theme" Target="../theme/theme1.xml"/><Relationship Id="rId27" Type="http://schemas.openxmlformats.org/officeDocument/2006/relationships/image" Target="../media/image3.png"/><Relationship Id="rId26" Type="http://schemas.openxmlformats.org/officeDocument/2006/relationships/image" Target="../media/image2.jpeg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0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142875"/>
            <a:ext cx="8229600" cy="43696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457200" y="881063"/>
            <a:ext cx="8229600" cy="37147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5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4683919"/>
            <a:ext cx="2895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50"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4683919"/>
            <a:ext cx="2133600" cy="3571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5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97D7747-D9D0-4222-AE01-C647B9939E3B}" type="slidenum">
              <a:rPr kumimoji="0" lang="en-US" altLang="zh-CN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SimSun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SimSun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604020202020204" pitchFamily="34" charset="0"/>
          <a:ea typeface="SimSun" panose="02010600030101010101" pitchFamily="2" charset="-122"/>
        </a:defRPr>
      </a:lvl9pPr>
    </p:titleStyle>
    <p:bodyStyle>
      <a:lvl1pPr marL="257175" indent="-257175" algn="l" rtl="0" fontAlgn="base">
        <a:spcBef>
          <a:spcPct val="15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3995" algn="l" rtl="0" fontAlgn="base">
        <a:spcBef>
          <a:spcPct val="15000"/>
        </a:spcBef>
        <a:spcAft>
          <a:spcPct val="0"/>
        </a:spcAft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rtl="0" fontAlgn="base">
        <a:spcBef>
          <a:spcPct val="15000"/>
        </a:spcBef>
        <a:spcAft>
          <a:spcPct val="0"/>
        </a:spcAft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rtl="0" fontAlgn="base">
        <a:spcBef>
          <a:spcPct val="15000"/>
        </a:spcBef>
        <a:spcAft>
          <a:spcPct val="0"/>
        </a:spcAft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rtl="0" fontAlgn="base">
        <a:spcBef>
          <a:spcPct val="15000"/>
        </a:spcBef>
        <a:spcAft>
          <a:spcPct val="0"/>
        </a:spcAft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5.xml"/><Relationship Id="rId3" Type="http://schemas.openxmlformats.org/officeDocument/2006/relationships/image" Target="../media/image5.png"/><Relationship Id="rId2" Type="http://schemas.openxmlformats.org/officeDocument/2006/relationships/tags" Target="../tags/tag1.xml"/><Relationship Id="rId1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4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3.xml"/><Relationship Id="rId5" Type="http://schemas.openxmlformats.org/officeDocument/2006/relationships/image" Target="../media/image7.png"/><Relationship Id="rId4" Type="http://schemas.openxmlformats.org/officeDocument/2006/relationships/image" Target="../media/image6.jpeg"/><Relationship Id="rId3" Type="http://schemas.openxmlformats.org/officeDocument/2006/relationships/tags" Target="../tags/tag3.xml"/><Relationship Id="rId2" Type="http://schemas.openxmlformats.org/officeDocument/2006/relationships/image" Target="../media/image4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10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.png"/><Relationship Id="rId1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2.xml"/><Relationship Id="rId8" Type="http://schemas.openxmlformats.org/officeDocument/2006/relationships/image" Target="../media/image4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.png"/><Relationship Id="rId1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2.xml"/><Relationship Id="rId6" Type="http://schemas.openxmlformats.org/officeDocument/2006/relationships/image" Target="../media/image4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6.png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27.png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30.png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tags" Target="../tags/tag4.xml"/><Relationship Id="rId1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.png"/><Relationship Id="rId1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32.png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image" Target="../media/image4.png"/><Relationship Id="rId1" Type="http://schemas.openxmlformats.org/officeDocument/2006/relationships/image" Target="../media/image33.png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2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4.png"/><Relationship Id="rId1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2.xml"/><Relationship Id="rId1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266190" y="1412875"/>
            <a:ext cx="5583555" cy="111760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Методы</a:t>
            </a:r>
            <a:r>
              <a:rPr lang="en-US" altLang="ru-RU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ru-RU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о</a:t>
            </a: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птимизации</a:t>
            </a:r>
            <a:r>
              <a:rPr lang="en-US" altLang="ru-RU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ru-RU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и</a:t>
            </a: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нтеллектуального</a:t>
            </a:r>
            <a:r>
              <a:rPr lang="en-US" altLang="ru-RU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endParaRPr lang="en-US" altLang="ru-RU" sz="2400" b="1">
              <a:solidFill>
                <a:srgbClr val="0070C0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ru-RU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а</a:t>
            </a: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грегатора</a:t>
            </a:r>
            <a:r>
              <a:rPr lang="en-US" altLang="ru-RU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ru-RU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у</a:t>
            </a: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слуг</a:t>
            </a:r>
            <a:r>
              <a:rPr lang="en-US" altLang="ru-RU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по</a:t>
            </a:r>
            <a:r>
              <a:rPr lang="en-US" altLang="ru-RU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ru-RU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д</a:t>
            </a: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оставке</a:t>
            </a:r>
            <a:r>
              <a:rPr lang="en-US" altLang="ru-RU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ru-RU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г</a:t>
            </a:r>
            <a:r>
              <a:rPr lang="en-US" altLang="en-US" sz="24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рузов</a:t>
            </a:r>
            <a:endParaRPr lang="en-US" altLang="en-US" sz="2400" b="1">
              <a:solidFill>
                <a:srgbClr val="0070C0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793040" y="138300"/>
            <a:ext cx="942340" cy="650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en-US" sz="2800" b="1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ГУАП</a:t>
            </a:r>
            <a:endParaRPr lang="en-US" altLang="en-US" sz="2800" b="1">
              <a:solidFill>
                <a:srgbClr val="0070C0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0415" y="138430"/>
            <a:ext cx="742315" cy="720090"/>
          </a:xfrm>
          <a:prstGeom prst="rect">
            <a:avLst/>
          </a:prstGeom>
        </p:spPr>
      </p:pic>
      <p:sp>
        <p:nvSpPr>
          <p:cNvPr id="9" name="Текстовое поле 8"/>
          <p:cNvSpPr txBox="1"/>
          <p:nvPr/>
        </p:nvSpPr>
        <p:spPr>
          <a:xfrm>
            <a:off x="7793355" y="4491355"/>
            <a:ext cx="655955" cy="33718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 b="1">
                <a:solidFill>
                  <a:srgbClr val="C00000"/>
                </a:solidFill>
              </a:rPr>
              <a:t>202</a:t>
            </a:r>
            <a:r>
              <a:rPr lang="ru-RU" altLang="en-US" sz="1600" b="1">
                <a:solidFill>
                  <a:srgbClr val="C00000"/>
                </a:solidFill>
              </a:rPr>
              <a:t>6</a:t>
            </a:r>
            <a:r>
              <a:rPr lang="en-US" altLang="zh-CN" sz="1600" b="1">
                <a:solidFill>
                  <a:srgbClr val="C00000"/>
                </a:solidFill>
              </a:rPr>
              <a:t> </a:t>
            </a:r>
            <a:endParaRPr lang="en-US" altLang="zh-CN" sz="1600" b="1">
              <a:solidFill>
                <a:srgbClr val="C00000"/>
              </a:solidFill>
            </a:endParaRPr>
          </a:p>
        </p:txBody>
      </p:sp>
      <p:sp>
        <p:nvSpPr>
          <p:cNvPr id="12" name="文本框 6"/>
          <p:cNvSpPr txBox="1"/>
          <p:nvPr/>
        </p:nvSpPr>
        <p:spPr>
          <a:xfrm>
            <a:off x="331470" y="2766695"/>
            <a:ext cx="4138930" cy="769620"/>
          </a:xfrm>
          <a:prstGeom prst="rect">
            <a:avLst/>
          </a:prstGeom>
          <a:noFill/>
        </p:spPr>
        <p:txBody>
          <a:bodyPr wrap="none" rtlCol="0">
            <a:noAutofit/>
          </a:bodyPr>
          <a:lstStyle/>
          <a:p>
            <a:pPr algn="l">
              <a:lnSpc>
                <a:spcPct val="130000"/>
              </a:lnSpc>
            </a:pP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Умный</a:t>
            </a:r>
            <a:r>
              <a:rPr lang="en-US" altLang="ru-RU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подбор</a:t>
            </a:r>
            <a:r>
              <a:rPr lang="en-US" altLang="ru-RU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заказов</a:t>
            </a:r>
            <a:r>
              <a:rPr lang="en-US" altLang="ru-RU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, </a:t>
            </a: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оптимизация</a:t>
            </a:r>
            <a:r>
              <a:rPr lang="en-US" altLang="ru-RU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endParaRPr lang="en-US" altLang="ru-RU" sz="1600" b="1">
              <a:solidFill>
                <a:schemeClr val="tx1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algn="l">
              <a:lnSpc>
                <a:spcPct val="130000"/>
              </a:lnSpc>
            </a:pP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маршрутов</a:t>
            </a:r>
            <a:r>
              <a:rPr lang="en-US" altLang="ru-RU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и</a:t>
            </a:r>
            <a:r>
              <a:rPr lang="en-US" altLang="ru-RU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балансировка</a:t>
            </a:r>
            <a:r>
              <a:rPr lang="en-US" altLang="ru-RU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600" b="1">
                <a:solidFill>
                  <a:schemeClr val="tx1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загрузки</a:t>
            </a:r>
            <a:endParaRPr lang="en-US" altLang="en-US" sz="1600" b="1">
              <a:solidFill>
                <a:schemeClr val="tx1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graphicFrame>
        <p:nvGraphicFramePr>
          <p:cNvPr id="16" name="Таблица 15"/>
          <p:cNvGraphicFramePr/>
          <p:nvPr>
            <p:custDataLst>
              <p:tags r:id="rId2"/>
            </p:custDataLst>
          </p:nvPr>
        </p:nvGraphicFramePr>
        <p:xfrm>
          <a:off x="227965" y="4001135"/>
          <a:ext cx="5208270" cy="6686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920"/>
                <a:gridCol w="1616075"/>
                <a:gridCol w="2200275"/>
              </a:tblGrid>
              <a:tr h="3181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Руководитель</a:t>
                      </a:r>
                      <a:endParaRPr lang="en-US" altLang="en-US" sz="1400" b="0" dirty="0">
                        <a:solidFill>
                          <a:schemeClr val="tx1"/>
                        </a:solidFill>
                        <a:latin typeface="Times New Roman" panose="02020603050405020304" charset="0"/>
                        <a:ea typeface="Calibri" panose="020F0502020204030204" pitchFamily="34" charset="0"/>
                        <a:cs typeface="Times New Roman" panose="02020603050405020304" charset="0"/>
                        <a:sym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marL="0" indent="0"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en-US" sz="1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Колесникова</a:t>
                      </a:r>
                      <a:r>
                        <a:rPr lang="en-US" altLang="ru-RU" sz="1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 </a:t>
                      </a:r>
                      <a:r>
                        <a:rPr lang="en-US" altLang="en-US" sz="1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С</a:t>
                      </a:r>
                      <a:r>
                        <a:rPr lang="en-US" altLang="ru-RU" sz="1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.</a:t>
                      </a:r>
                      <a:r>
                        <a:rPr lang="en-US" altLang="en-US" sz="1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cs typeface="Times New Roman" panose="02020603050405020304" charset="0"/>
                          <a:sym typeface="+mn-ea"/>
                        </a:rPr>
                        <a:t>И</a:t>
                      </a:r>
                      <a:endParaRPr lang="en-US" altLang="zh-CN" sz="1400" b="0">
                        <a:solidFill>
                          <a:schemeClr val="tx1"/>
                        </a:solidFill>
                        <a:latin typeface="Times New Roman" panose="02020603050405020304" charset="0"/>
                        <a:ea typeface="SimSun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1400" b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SimSun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Дож: 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проф</a:t>
                      </a:r>
                      <a:r>
                        <a:rPr lang="en-US" altLang="ru-RU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. 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д</a:t>
                      </a:r>
                      <a:r>
                        <a:rPr lang="en-US" altLang="ru-RU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-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р</a:t>
                      </a:r>
                      <a:r>
                        <a:rPr lang="en-US" altLang="ru-RU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 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техн</a:t>
                      </a:r>
                      <a:r>
                        <a:rPr lang="en-US" altLang="ru-RU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. </a:t>
                      </a:r>
                      <a:r>
                        <a:rPr lang="en-US" altLang="en-US" sz="1400" b="0" dirty="0">
                          <a:solidFill>
                            <a:schemeClr val="tx1"/>
                          </a:solidFill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наук.</a:t>
                      </a:r>
                      <a:endParaRPr lang="en-US" altLang="en-US" sz="1400" b="0">
                        <a:solidFill>
                          <a:schemeClr val="tx1"/>
                        </a:solidFill>
                        <a:latin typeface="Times New Roman" panose="02020603050405020304" charset="0"/>
                        <a:cs typeface="Times New Roman" panose="02020603050405020304" charset="0"/>
                      </a:endParaRPr>
                    </a:p>
                  </a:txBody>
                  <a:tcPr>
                    <a:noFill/>
                  </a:tcPr>
                </a:tc>
              </a:tr>
              <a:tr h="3505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US" sz="1400" b="0" dirty="0"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Студент</a:t>
                      </a:r>
                      <a:r>
                        <a:rPr lang="en-US" altLang="ru-RU" sz="1400" b="0" dirty="0"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 </a:t>
                      </a:r>
                      <a:endParaRPr lang="en-US" altLang="en-US" sz="1400" b="0" dirty="0">
                        <a:latin typeface="Times New Roman" panose="02020603050405020304" charset="0"/>
                        <a:ea typeface="Calibri" panose="020F0502020204030204" pitchFamily="34" charset="0"/>
                        <a:cs typeface="Times New Roman" panose="02020603050405020304" charset="0"/>
                        <a:sym typeface="+mn-lt"/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ru-RU" altLang="en-US" sz="1400" dirty="0">
                          <a:latin typeface="Times New Roman" panose="02020603050405020304" charset="0"/>
                          <a:ea typeface="Calibri" panose="020F0502020204030204" pitchFamily="34" charset="0"/>
                          <a:cs typeface="Times New Roman" panose="02020603050405020304" charset="0"/>
                          <a:sym typeface="+mn-lt"/>
                        </a:rPr>
                        <a:t>Мвале Лисон</a:t>
                      </a:r>
                      <a:endParaRPr lang="ru-RU" altLang="en-US" sz="1400" b="0" dirty="0">
                        <a:latin typeface="Times New Roman" panose="02020603050405020304" charset="0"/>
                        <a:ea typeface="Calibri" panose="020F0502020204030204" pitchFamily="34" charset="0"/>
                        <a:cs typeface="Times New Roman" panose="02020603050405020304" charset="0"/>
                        <a:sym typeface="+mn-lt"/>
                      </a:endParaRPr>
                    </a:p>
                  </a:txBody>
                  <a:tcPr marL="0" marR="0" marT="0" marB="0" anchor="ctr" anchorCtr="0">
                    <a:noFill/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ru-RU" altLang="zh-CN" sz="1400">
                          <a:latin typeface="Times New Roman" panose="02020603050405020304" charset="0"/>
                          <a:ea typeface="SimSun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гр</a:t>
                      </a:r>
                      <a:r>
                        <a:rPr lang="en-US" altLang="zh-CN" sz="1400">
                          <a:latin typeface="Times New Roman" panose="02020603050405020304" charset="0"/>
                          <a:ea typeface="SimSun" panose="02010600030101010101" pitchFamily="2" charset="-122"/>
                          <a:cs typeface="Times New Roman" panose="02020603050405020304" charset="0"/>
                          <a:sym typeface="+mn-ea"/>
                        </a:rPr>
                        <a:t>. 4236</a:t>
                      </a:r>
                      <a:endParaRPr lang="ru-RU" altLang="zh-CN" sz="1400" b="0" dirty="0">
                        <a:latin typeface="Times New Roman" panose="02020603050405020304" charset="0"/>
                        <a:ea typeface="SimSun" panose="02010600030101010101" pitchFamily="2" charset="-122"/>
                        <a:cs typeface="Times New Roman" panose="02020603050405020304" charset="0"/>
                        <a:sym typeface="+mn-ea"/>
                      </a:endParaRP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pic>
        <p:nvPicPr>
          <p:cNvPr id="19" name="Изображение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790" y="238760"/>
            <a:ext cx="5588635" cy="883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Текстовое поле 1"/>
          <p:cNvSpPr txBox="1"/>
          <p:nvPr/>
        </p:nvSpPr>
        <p:spPr>
          <a:xfrm>
            <a:off x="3746183" y="208915"/>
            <a:ext cx="1308735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en-US" sz="1800" b="1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П</a:t>
            </a:r>
            <a:r>
              <a:rPr lang="en-US" altLang="en-US" sz="1800" b="1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ОВЕСТКА</a:t>
            </a:r>
            <a:endParaRPr lang="en-US" altLang="en-US" sz="1800" b="1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572135" y="577215"/>
            <a:ext cx="6760845" cy="41008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ru-RU" altLang="en-US"/>
              <a:t>1</a:t>
            </a:r>
            <a:r>
              <a:rPr lang="en-US" altLang="ru-RU"/>
              <a:t>. </a:t>
            </a:r>
            <a:r>
              <a:rPr lang="en-US" altLang="en-US"/>
              <a:t>Введение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видение</a:t>
            </a:r>
            <a:r>
              <a:rPr lang="en-US" altLang="ru-RU"/>
              <a:t> </a:t>
            </a:r>
            <a:r>
              <a:rPr lang="en-US" altLang="en-US"/>
              <a:t>проекта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2. Часть</a:t>
            </a:r>
            <a:r>
              <a:rPr lang="en-US" altLang="ru-RU"/>
              <a:t> 1: </a:t>
            </a:r>
            <a:r>
              <a:rPr lang="en-US" altLang="en-US"/>
              <a:t>Алгоритмы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водителей</a:t>
            </a:r>
            <a:endParaRPr lang="en-US" altLang="en-US"/>
          </a:p>
          <a:p>
            <a:pPr marL="742950" lvl="1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en-US"/>
              <a:t>Поиск</a:t>
            </a:r>
            <a:r>
              <a:rPr lang="en-US" altLang="ru-RU"/>
              <a:t> </a:t>
            </a:r>
            <a:r>
              <a:rPr lang="en-US" altLang="en-US"/>
              <a:t>ближайших</a:t>
            </a:r>
            <a:r>
              <a:rPr lang="en-US" altLang="ru-RU"/>
              <a:t> </a:t>
            </a:r>
            <a:r>
              <a:rPr lang="en-US" altLang="en-US"/>
              <a:t>заказов</a:t>
            </a:r>
            <a:r>
              <a:rPr lang="en-US" altLang="ru-RU"/>
              <a:t> (</a:t>
            </a:r>
            <a:r>
              <a:rPr lang="en-US" altLang="en-US"/>
              <a:t>Задача</a:t>
            </a:r>
            <a:r>
              <a:rPr lang="en-US" altLang="ru-RU"/>
              <a:t> </a:t>
            </a:r>
            <a:r>
              <a:rPr lang="en-US" altLang="en-US"/>
              <a:t>о</a:t>
            </a:r>
            <a:r>
              <a:rPr lang="en-US" altLang="ru-RU"/>
              <a:t> </a:t>
            </a:r>
            <a:r>
              <a:rPr lang="en-US" altLang="en-US"/>
              <a:t>рюкзаке</a:t>
            </a:r>
            <a:r>
              <a:rPr lang="en-US" altLang="ru-RU"/>
              <a:t> + </a:t>
            </a:r>
            <a:r>
              <a:rPr lang="en-US" altLang="en-US"/>
              <a:t>геопространственный</a:t>
            </a:r>
            <a:r>
              <a:rPr lang="en-US" altLang="ru-RU"/>
              <a:t> </a:t>
            </a:r>
            <a:r>
              <a:rPr lang="en-US" altLang="en-US"/>
              <a:t>поиск</a:t>
            </a:r>
            <a:r>
              <a:rPr lang="en-US" altLang="ru-RU"/>
              <a:t>)</a:t>
            </a:r>
            <a:endParaRPr lang="en-US" altLang="ru-RU"/>
          </a:p>
          <a:p>
            <a:pPr marL="742950" lvl="1" indent="-285750">
              <a:buClr>
                <a:srgbClr val="00B0F0"/>
              </a:buClr>
              <a:buFont typeface="Arial" panose="020B0604020202020204" pitchFamily="34" charset="0"/>
              <a:buChar char="•"/>
            </a:pPr>
            <a:r>
              <a:rPr lang="en-US" altLang="en-US"/>
              <a:t>Оптимизация</a:t>
            </a:r>
            <a:r>
              <a:rPr lang="en-US" altLang="ru-RU"/>
              <a:t> </a:t>
            </a:r>
            <a:r>
              <a:rPr lang="en-US" altLang="en-US"/>
              <a:t>маршрута</a:t>
            </a:r>
            <a:r>
              <a:rPr lang="en-US" altLang="ru-RU"/>
              <a:t> (</a:t>
            </a:r>
            <a:r>
              <a:rPr lang="en-US" altLang="en-US"/>
              <a:t>Задача</a:t>
            </a:r>
            <a:r>
              <a:rPr lang="en-US" altLang="ru-RU"/>
              <a:t> </a:t>
            </a:r>
            <a:r>
              <a:rPr lang="en-US" altLang="en-US"/>
              <a:t>коммивояжера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динамическое</a:t>
            </a:r>
            <a:r>
              <a:rPr lang="en-US" altLang="ru-RU"/>
              <a:t> </a:t>
            </a:r>
            <a:r>
              <a:rPr lang="en-US" altLang="en-US"/>
              <a:t>добавление</a:t>
            </a:r>
            <a:r>
              <a:rPr lang="en-US" altLang="ru-RU"/>
              <a:t>)</a:t>
            </a:r>
            <a:endParaRPr lang="en-US" altLang="ru-RU"/>
          </a:p>
          <a:p>
            <a:endParaRPr lang="en-US" altLang="en-US"/>
          </a:p>
          <a:p>
            <a:r>
              <a:rPr lang="en-US" altLang="en-US"/>
              <a:t>3. Часть</a:t>
            </a:r>
            <a:r>
              <a:rPr lang="en-US" altLang="ru-RU"/>
              <a:t> 2: </a:t>
            </a:r>
            <a:r>
              <a:rPr lang="en-US" altLang="en-US"/>
              <a:t>Алгоритмы</a:t>
            </a:r>
            <a:r>
              <a:rPr lang="en-US" altLang="ru-RU"/>
              <a:t> </a:t>
            </a:r>
            <a:r>
              <a:rPr lang="en-US" altLang="en-US"/>
              <a:t>для</a:t>
            </a:r>
            <a:r>
              <a:rPr lang="en-US" altLang="ru-RU"/>
              <a:t> </a:t>
            </a:r>
            <a:r>
              <a:rPr lang="en-US" altLang="en-US"/>
              <a:t>клиентов</a:t>
            </a:r>
            <a:endParaRPr lang="en-US" altLang="en-US"/>
          </a:p>
          <a:p>
            <a:pPr marL="742950" lvl="1" indent="-285750" algn="l">
              <a:buClr>
                <a:srgbClr val="00B0F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/>
              <a:t>Интеллектуальная классификация заказов и подбор авто</a:t>
            </a:r>
            <a:endParaRPr lang="en-US" altLang="en-US"/>
          </a:p>
          <a:p>
            <a:pPr marL="742950" lvl="1" indent="-285750" algn="l">
              <a:buClr>
                <a:srgbClr val="00B0F0"/>
              </a:buClr>
              <a:buSzTx/>
              <a:buFont typeface="Arial" panose="020B0604020202020204" pitchFamily="34" charset="0"/>
              <a:buChar char="•"/>
            </a:pPr>
            <a:endParaRPr lang="en-US" altLang="en-US"/>
          </a:p>
          <a:p>
            <a:pPr marL="742950" lvl="1" indent="-285750" algn="l">
              <a:buClr>
                <a:srgbClr val="00B0F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/>
              <a:t>Оптимизация сборных грузов (Задача об упаковке + центр тяжести)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4. Сравнение</a:t>
            </a:r>
            <a:r>
              <a:rPr lang="en-US" altLang="ru-RU"/>
              <a:t> </a:t>
            </a:r>
            <a:r>
              <a:rPr lang="en-US" altLang="en-US"/>
              <a:t>с</a:t>
            </a:r>
            <a:r>
              <a:rPr lang="en-US" altLang="ru-RU"/>
              <a:t> </a:t>
            </a:r>
            <a:r>
              <a:rPr lang="en-US" altLang="en-US"/>
              <a:t>существующими</a:t>
            </a:r>
            <a:r>
              <a:rPr lang="en-US" altLang="ru-RU"/>
              <a:t> </a:t>
            </a:r>
            <a:r>
              <a:rPr lang="en-US" altLang="en-US"/>
              <a:t>рыночными</a:t>
            </a:r>
            <a:r>
              <a:rPr lang="en-US" altLang="ru-RU"/>
              <a:t> </a:t>
            </a:r>
            <a:r>
              <a:rPr lang="en-US" altLang="en-US"/>
              <a:t>решениями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5. Стек</a:t>
            </a:r>
            <a:r>
              <a:rPr lang="en-US" altLang="ru-RU"/>
              <a:t> </a:t>
            </a:r>
            <a:r>
              <a:rPr lang="en-US" altLang="en-US"/>
              <a:t>технологий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анализ</a:t>
            </a:r>
            <a:r>
              <a:rPr lang="en-US" altLang="ru-RU"/>
              <a:t> </a:t>
            </a:r>
            <a:r>
              <a:rPr lang="en-US" altLang="en-US"/>
              <a:t>сложности</a:t>
            </a:r>
            <a:endParaRPr lang="en-US" altLang="en-US"/>
          </a:p>
          <a:p>
            <a:endParaRPr lang="en-US" altLang="ru-RU"/>
          </a:p>
          <a:p>
            <a:r>
              <a:rPr lang="en-US" altLang="en-US"/>
              <a:t>6. Заключение</a:t>
            </a:r>
            <a:r>
              <a:rPr lang="en-US" altLang="ru-RU"/>
              <a:t> </a:t>
            </a:r>
            <a:r>
              <a:rPr lang="en-US" altLang="en-US"/>
              <a:t>и</a:t>
            </a:r>
            <a:r>
              <a:rPr lang="en-US" altLang="ru-RU"/>
              <a:t> </a:t>
            </a:r>
            <a:r>
              <a:rPr lang="en-US" altLang="en-US"/>
              <a:t>дальнейшие</a:t>
            </a:r>
            <a:r>
              <a:rPr lang="en-US" altLang="ru-RU"/>
              <a:t> </a:t>
            </a:r>
            <a:r>
              <a:rPr lang="en-US" altLang="en-US"/>
              <a:t>шаги</a:t>
            </a:r>
            <a:endParaRPr lang="en-US" altLang="en-US"/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863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矩形 70"/>
          <p:cNvSpPr/>
          <p:nvPr>
            <p:custDataLst>
              <p:tags r:id="rId1"/>
            </p:custDataLst>
          </p:nvPr>
        </p:nvSpPr>
        <p:spPr>
          <a:xfrm>
            <a:off x="749300" y="754380"/>
            <a:ext cx="7472045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en-US" sz="14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Проблема</a:t>
            </a:r>
            <a:r>
              <a:rPr lang="en-US" altLang="en-US" sz="14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Неэффективный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подбор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заказов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,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неоптимальная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маршрутизация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и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плохое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распределение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загрузки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в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современных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логистических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платформах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.</a:t>
            </a:r>
            <a:endParaRPr lang="en-US" altLang="ru-RU" sz="14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2" name="Текстовое поле 1"/>
          <p:cNvSpPr txBox="1"/>
          <p:nvPr/>
        </p:nvSpPr>
        <p:spPr>
          <a:xfrm>
            <a:off x="3732848" y="208915"/>
            <a:ext cx="271526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lvl="0" algn="ctr">
              <a:buClrTx/>
              <a:buSzTx/>
              <a:buFontTx/>
            </a:pPr>
            <a:r>
              <a:rPr lang="en-US" altLang="en-US" sz="1800" b="1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</a:t>
            </a:r>
            <a:r>
              <a:rPr lang="en-US" altLang="en-US" sz="1800" b="1">
                <a:solidFill>
                  <a:srgbClr val="0070C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ВЕДЕНИЕ И ВИДЕНИЕ</a:t>
            </a:r>
            <a:endParaRPr lang="en-US" altLang="en-US" sz="1800" b="1">
              <a:solidFill>
                <a:srgbClr val="0070C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4" name="矩形 70"/>
          <p:cNvSpPr/>
          <p:nvPr>
            <p:custDataLst>
              <p:tags r:id="rId3"/>
            </p:custDataLst>
          </p:nvPr>
        </p:nvSpPr>
        <p:spPr>
          <a:xfrm>
            <a:off x="749300" y="1403350"/>
            <a:ext cx="4646930" cy="306324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en-US" sz="1400" b="1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Цель</a:t>
            </a:r>
            <a:r>
              <a:rPr lang="en-US" altLang="ru-RU" sz="14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</a:t>
            </a:r>
            <a:r>
              <a:rPr lang="en-US" altLang="en-US" sz="1400" b="1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Построить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платформу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на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основе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математических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моделей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,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которая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</a:t>
            </a:r>
            <a:endParaRPr lang="en-US" altLang="ru-RU" sz="14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  <a:p>
            <a:pPr marL="742950" lvl="1" indent="-285750" algn="l">
              <a:buClr>
                <a:srgbClr val="00B0F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350">
                <a:sym typeface="+mn-lt"/>
              </a:rPr>
              <a:t>Сопоставляет водителей с выполнимыми и выгодными заказами в реальном времени.</a:t>
            </a:r>
            <a:endParaRPr lang="en-US" altLang="en-US" sz="1350">
              <a:sym typeface="+mn-lt"/>
            </a:endParaRPr>
          </a:p>
          <a:p>
            <a:pPr marL="742950" lvl="1" indent="-285750" algn="l">
              <a:buClr>
                <a:srgbClr val="00B0F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350">
                <a:sym typeface="+mn-lt"/>
              </a:rPr>
              <a:t>Динамически оптимизирует маршруты доставки.</a:t>
            </a:r>
            <a:endParaRPr lang="en-US" altLang="en-US" sz="1350">
              <a:sym typeface="+mn-lt"/>
            </a:endParaRPr>
          </a:p>
          <a:p>
            <a:pPr marL="742950" lvl="1" indent="-285750" algn="l">
              <a:buClr>
                <a:srgbClr val="00B0F0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1350">
                <a:sym typeface="+mn-lt"/>
              </a:rPr>
              <a:t>Обеспечивает безопасное и сбалансированное распределение груза.</a:t>
            </a:r>
            <a:endParaRPr lang="en-US" altLang="en-US" sz="1350">
              <a:sym typeface="+mn-lt"/>
            </a:endParaRPr>
          </a:p>
          <a:p>
            <a:pPr marL="742950" lvl="1" indent="-285750" algn="l">
              <a:buClr>
                <a:srgbClr val="00B0F0"/>
              </a:buClr>
              <a:buSzTx/>
              <a:buFont typeface="Arial" panose="020B0604020202020204" pitchFamily="34" charset="0"/>
              <a:buChar char="•"/>
            </a:pPr>
            <a:endParaRPr lang="en-US" altLang="en-US" sz="1350">
              <a:sym typeface="+mn-lt"/>
            </a:endParaRPr>
          </a:p>
          <a:p>
            <a:pPr algn="l"/>
            <a:r>
              <a:rPr lang="en-US" altLang="en-US" sz="1400" dirty="0">
                <a:solidFill>
                  <a:srgbClr val="0070C0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Эффект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: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Снижение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затрат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на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топливо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,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более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быстрая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доставка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,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увеличение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заработка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водителей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,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повышение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удовлетворенности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 </a:t>
            </a:r>
            <a:r>
              <a:rPr lang="en-US" altLang="en-US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клиентов</a:t>
            </a:r>
            <a:r>
              <a:rPr lang="en-US" altLang="ru-RU" sz="1400" dirty="0">
                <a:solidFill>
                  <a:schemeClr val="tx2"/>
                </a:solidFill>
                <a:ea typeface="Calibri" panose="020F0502020204030204" pitchFamily="34" charset="0"/>
                <a:cs typeface="Calibri" panose="020F0502020204030204" pitchFamily="34" charset="0"/>
                <a:sym typeface="+mn-lt"/>
              </a:rPr>
              <a:t>.</a:t>
            </a:r>
            <a:endParaRPr lang="en-US" altLang="ru-RU" sz="1400" dirty="0">
              <a:solidFill>
                <a:schemeClr val="tx2"/>
              </a:solidFill>
              <a:ea typeface="Calibri" panose="020F0502020204030204" pitchFamily="34" charset="0"/>
              <a:cs typeface="Calibri" panose="020F0502020204030204" pitchFamily="34" charset="0"/>
              <a:sym typeface="+mn-lt"/>
            </a:endParaRPr>
          </a:p>
        </p:txBody>
      </p:sp>
      <p:pic>
        <p:nvPicPr>
          <p:cNvPr id="5" name="Изображение 4" descr="WhatsApp Image 2025-12-18 at 16.40.25"/>
          <p:cNvPicPr>
            <a:picLocks noChangeAspect="1"/>
          </p:cNvPicPr>
          <p:nvPr/>
        </p:nvPicPr>
        <p:blipFill>
          <a:blip r:embed="rId4"/>
          <a:srcRect t="9617" b="26160"/>
          <a:stretch>
            <a:fillRect/>
          </a:stretch>
        </p:blipFill>
        <p:spPr>
          <a:xfrm>
            <a:off x="5295900" y="1276350"/>
            <a:ext cx="1858645" cy="265366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4245" y="1276350"/>
            <a:ext cx="1651635" cy="26530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37"/>
          <p:cNvSpPr txBox="1"/>
          <p:nvPr/>
        </p:nvSpPr>
        <p:spPr>
          <a:xfrm>
            <a:off x="950595" y="516763"/>
            <a:ext cx="71120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rtlCol="0" anchor="t">
            <a:spAutoFit/>
          </a:bodyPr>
          <a:lstStyle/>
          <a:p>
            <a:pPr lvl="0" algn="l" fontAlgn="base">
              <a:buClrTx/>
              <a:buSzTx/>
              <a:buFontTx/>
            </a:pP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Проблемы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, 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решаемые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с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помощью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программного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 </a:t>
            </a:r>
            <a:r>
              <a:rPr lang="en-US" altLang="en-US" sz="1800" b="1">
                <a:solidFill>
                  <a:srgbClr val="0070C0"/>
                </a:solidFill>
                <a:latin typeface="+mj-lt"/>
                <a:ea typeface="+mj-ea"/>
                <a:cs typeface="+mj-cs"/>
                <a:sym typeface="+mn-ea"/>
              </a:rPr>
              <a:t>обеспечения</a:t>
            </a:r>
            <a:endParaRPr lang="en-US" altLang="en-US" sz="1800" b="1">
              <a:solidFill>
                <a:srgbClr val="0070C0"/>
              </a:solidFill>
              <a:latin typeface="+mj-lt"/>
              <a:ea typeface="+mj-ea"/>
              <a:cs typeface="+mj-cs"/>
              <a:sym typeface="+mn-ea"/>
            </a:endParaRPr>
          </a:p>
        </p:txBody>
      </p:sp>
      <p:pic>
        <p:nvPicPr>
          <p:cNvPr id="137" name="Изображение 136"/>
          <p:cNvPicPr>
            <a:picLocks noChangeAspect="1"/>
          </p:cNvPicPr>
          <p:nvPr/>
        </p:nvPicPr>
        <p:blipFill>
          <a:blip r:embed="rId1"/>
          <a:srcRect l="9325" r="12033"/>
          <a:stretch>
            <a:fillRect/>
          </a:stretch>
        </p:blipFill>
        <p:spPr>
          <a:xfrm>
            <a:off x="1586865" y="1112520"/>
            <a:ext cx="5431155" cy="3524250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630" y="142875"/>
            <a:ext cx="8229600" cy="436960"/>
          </a:xfrm>
        </p:spPr>
        <p:txBody>
          <a:bodyPr/>
          <a:p>
            <a:r>
              <a:rPr lang="en-US" altLang="en-US">
                <a:solidFill>
                  <a:srgbClr val="0070C0"/>
                </a:solidFill>
              </a:rPr>
              <a:t>Оптимизация</a:t>
            </a:r>
            <a:r>
              <a:rPr lang="en-US" altLang="ru-RU">
                <a:solidFill>
                  <a:srgbClr val="0070C0"/>
                </a:solidFill>
              </a:rPr>
              <a:t> </a:t>
            </a:r>
            <a:r>
              <a:rPr lang="en-US" altLang="en-US">
                <a:solidFill>
                  <a:srgbClr val="0070C0"/>
                </a:solidFill>
              </a:rPr>
              <a:t>логистической</a:t>
            </a:r>
            <a:r>
              <a:rPr lang="en-US" altLang="ru-RU">
                <a:solidFill>
                  <a:srgbClr val="0070C0"/>
                </a:solidFill>
              </a:rPr>
              <a:t> </a:t>
            </a:r>
            <a:r>
              <a:rPr lang="en-US" altLang="en-US">
                <a:solidFill>
                  <a:srgbClr val="0070C0"/>
                </a:solidFill>
              </a:rPr>
              <a:t>платформы</a:t>
            </a:r>
            <a:endParaRPr lang="en-US" altLang="en-US">
              <a:solidFill>
                <a:srgbClr val="0070C0"/>
              </a:solidFill>
            </a:endParaRPr>
          </a:p>
        </p:txBody>
      </p:sp>
      <p:pic>
        <p:nvPicPr>
          <p:cNvPr id="139" name="Изображение 138"/>
          <p:cNvPicPr>
            <a:picLocks noChangeAspect="1"/>
          </p:cNvPicPr>
          <p:nvPr/>
        </p:nvPicPr>
        <p:blipFill>
          <a:blip r:embed="rId1"/>
          <a:srcRect t="8251"/>
          <a:stretch>
            <a:fillRect/>
          </a:stretch>
        </p:blipFill>
        <p:spPr>
          <a:xfrm>
            <a:off x="1095375" y="862965"/>
            <a:ext cx="6476365" cy="3417570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1800" b="1">
                <a:solidFill>
                  <a:srgbClr val="0070C0"/>
                </a:solidFill>
              </a:rPr>
              <a:t>Часть</a:t>
            </a:r>
            <a:r>
              <a:rPr lang="en-US" altLang="ru-RU" sz="1800" b="1">
                <a:solidFill>
                  <a:srgbClr val="0070C0"/>
                </a:solidFill>
              </a:rPr>
              <a:t> 1 – </a:t>
            </a:r>
            <a:r>
              <a:rPr lang="en-US" altLang="en-US" sz="1800" b="1">
                <a:solidFill>
                  <a:srgbClr val="0070C0"/>
                </a:solidFill>
              </a:rPr>
              <a:t>Для</a:t>
            </a:r>
            <a:r>
              <a:rPr lang="en-US" altLang="ru-RU" sz="1800" b="1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водителей</a:t>
            </a:r>
            <a:r>
              <a:rPr lang="en-US" altLang="ru-RU" sz="1800" b="1">
                <a:solidFill>
                  <a:srgbClr val="0070C0"/>
                </a:solidFill>
              </a:rPr>
              <a:t>: </a:t>
            </a:r>
            <a:r>
              <a:rPr lang="en-US" altLang="en-US" sz="1800" b="1">
                <a:solidFill>
                  <a:srgbClr val="0070C0"/>
                </a:solidFill>
              </a:rPr>
              <a:t>Поиск</a:t>
            </a:r>
            <a:r>
              <a:rPr lang="en-US" altLang="ru-RU" sz="1800" b="1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ближайших</a:t>
            </a:r>
            <a:r>
              <a:rPr lang="en-US" altLang="ru-RU" sz="1800" b="1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заказов</a:t>
            </a:r>
            <a:endParaRPr lang="en-US" altLang="en-US" sz="1800" b="1">
              <a:solidFill>
                <a:srgbClr val="0070C0"/>
              </a:solidFill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1358900" y="3243897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 algn="l"/>
            <a:r>
              <a:rPr lang="en-US" altLang="zh-CN" sz="1600" b="1" i="0">
                <a:solidFill>
                  <a:srgbClr val="0070C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Шаг 1: Проверка выполнимости (Задача о рюкзаке)</a:t>
            </a:r>
            <a:endParaRPr lang="en-US" altLang="zh-CN" sz="1600" b="1" i="0">
              <a:solidFill>
                <a:srgbClr val="0070C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781685" y="3646170"/>
            <a:ext cx="7179310" cy="107632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Входные данные: тип автомобиля водителя (грузоподъемность: вес, объем).</a:t>
            </a:r>
            <a:endParaRPr lang="en-US" altLang="zh-CN" sz="16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Заказы фильтруются по совместимости с использованием Задачи о рюкзаке (0/1 или многомерной).</a:t>
            </a:r>
            <a:endParaRPr lang="en-US" altLang="zh-CN" sz="16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l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6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Водителю показываются только выполнимые заказы.</a:t>
            </a:r>
            <a:endParaRPr lang="en-US" altLang="zh-CN" sz="16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rcRect b="9464"/>
          <a:stretch>
            <a:fillRect/>
          </a:stretch>
        </p:blipFill>
        <p:spPr>
          <a:xfrm>
            <a:off x="1575435" y="789940"/>
            <a:ext cx="5349240" cy="2387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6940" y="215265"/>
            <a:ext cx="6814185" cy="436880"/>
          </a:xfrm>
        </p:spPr>
        <p:txBody>
          <a:bodyPr/>
          <a:p>
            <a:r>
              <a:rPr lang="en-US" altLang="en-US" sz="1600" b="1">
                <a:solidFill>
                  <a:srgbClr val="0070C0"/>
                </a:solidFill>
              </a:rPr>
              <a:t>Краткий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псевдокод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алгоритма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для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решения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многомерной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задачи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о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рюкзаке</a:t>
            </a:r>
            <a:r>
              <a:rPr lang="en-US" altLang="ru-RU" sz="1600" b="1">
                <a:solidFill>
                  <a:srgbClr val="0070C0"/>
                </a:solidFill>
              </a:rPr>
              <a:t> (</a:t>
            </a:r>
            <a:r>
              <a:rPr lang="en-US" altLang="en-US" sz="1600" b="1">
                <a:solidFill>
                  <a:srgbClr val="0070C0"/>
                </a:solidFill>
              </a:rPr>
              <a:t>вес</a:t>
            </a:r>
            <a:r>
              <a:rPr lang="en-US" altLang="ru-RU" sz="1600" b="1">
                <a:solidFill>
                  <a:srgbClr val="0070C0"/>
                </a:solidFill>
              </a:rPr>
              <a:t> + </a:t>
            </a:r>
            <a:r>
              <a:rPr lang="en-US" altLang="en-US" sz="1600" b="1">
                <a:solidFill>
                  <a:srgbClr val="0070C0"/>
                </a:solidFill>
              </a:rPr>
              <a:t>объём</a:t>
            </a:r>
            <a:r>
              <a:rPr lang="en-US" altLang="ru-RU" sz="1600" b="1">
                <a:solidFill>
                  <a:srgbClr val="0070C0"/>
                </a:solidFill>
              </a:rPr>
              <a:t>)</a:t>
            </a:r>
            <a:endParaRPr lang="en-US" altLang="ru-RU" sz="1600" b="1">
              <a:solidFill>
                <a:srgbClr val="0070C0"/>
              </a:solidFill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309245" y="717550"/>
            <a:ext cx="4997450" cy="2367915"/>
          </a:xfrm>
          <a:prstGeom prst="rect">
            <a:avLst/>
          </a:prstGeom>
        </p:spPr>
        <p:txBody>
          <a:bodyPr>
            <a:noAutofit/>
          </a:bodyPr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Формулировка задачи: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Дано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n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 заказов, каждый с: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Весом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w[i]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Объёмом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v[i]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45720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Стоимостью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profit[i]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 (например, приоритет заказа)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Ограничения: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Максимальный вес автомобиля: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W_max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Максимальный объём автомобиля: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V_max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421005" y="3225165"/>
            <a:ext cx="4053840" cy="15144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Цель: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Выбрать подмножество заказов, чтобы: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Суммарный вес ≤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W_max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Суммарный объём ≤ </a:t>
            </a: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V_max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AutoNum type="arabicPeriod"/>
            </a:pPr>
            <a:r>
              <a:rPr lang="en-US" altLang="zh-CN" sz="1400" b="1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Суммарная "ценность" (profit) максимальна</a:t>
            </a:r>
            <a:endParaRPr lang="en-US" altLang="zh-CN" sz="1400" b="1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076190" y="570230"/>
            <a:ext cx="4011930" cy="2755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zh-CN" sz="1200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Псевдокод (динамическое программирование)</a:t>
            </a:r>
            <a:endParaRPr lang="en-US" altLang="zh-CN" sz="1200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4474845" y="2896552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200" b="0" i="0">
                <a:solidFill>
                  <a:schemeClr val="tx2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Альтернативный вариант (жадная эвристика для реального времени):</a:t>
            </a:r>
            <a:endParaRPr lang="en-US" altLang="zh-CN" sz="1200" b="0" i="0">
              <a:solidFill>
                <a:schemeClr val="tx2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9" name="Текстовое поле 8"/>
          <p:cNvSpPr txBox="1"/>
          <p:nvPr/>
        </p:nvSpPr>
        <p:spPr>
          <a:xfrm>
            <a:off x="4119880" y="3086100"/>
            <a:ext cx="5080000" cy="1991995"/>
          </a:xfrm>
          <a:prstGeom prst="rect">
            <a:avLst/>
          </a:prstGeom>
        </p:spPr>
        <p:txBody>
          <a:bodyPr>
            <a:spAutoFit/>
          </a:bodyPr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Функция GreedyFeasibilityCheck(orders, driver_capacity_weight, driver_capacity_volume):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Отсортировать orders по убыванию profit[i] / (w[i] + v[i])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total_weight = 0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total_volume = 0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feasible_orders = []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Для каждого order в orders: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Если total_weight + w[order] &lt;= driver_capacity_weight И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total_volume + v[order] &lt;= driver_capacity_volume: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Добавить order в feasible_orders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total_weight += w[order]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total_volume += v[order]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>
              <a:lnSpc>
                <a:spcPts val="1140"/>
              </a:lnSpc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Возвратить feasible_orders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" name="Текстовое поле 9"/>
          <p:cNvSpPr txBox="1"/>
          <p:nvPr/>
        </p:nvSpPr>
        <p:spPr>
          <a:xfrm>
            <a:off x="4687570" y="781685"/>
            <a:ext cx="5080000" cy="2174875"/>
          </a:xfrm>
          <a:prstGeom prst="rect">
            <a:avLst/>
          </a:prstGeom>
        </p:spPr>
        <p:txBody>
          <a:bodyPr>
            <a:noAutofit/>
          </a:bodyPr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Функция MultiKnapsack(w, v, profit, n, W_max, V_max):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Создать 3D массив DP размером (n+1) x (W_max+1) x (V_max+1)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Инициализировать DP нулями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Для i от 1 до n: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Для weight от 0 до W_max: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Для volume от 0 до V_max: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    Если w[i] &lt;= weight И v[i] &lt;= volume: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        DP[i][weight][volume] = max(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            DP[i-1][weight][volume],  // не берём заказ i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            DP[i-1][weight - w[i]][volume - v[i]] + profit[i]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        )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    Иначе: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                DP[i][weight][volume] = DP[i-1][weight][volume]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  <a:p>
            <a:pPr algn="l">
              <a:lnSpc>
                <a:spcPts val="1140"/>
              </a:lnSpc>
              <a:buClrTx/>
              <a:buSzTx/>
              <a:buNone/>
            </a:pPr>
            <a:r>
              <a:rPr lang="en-US" altLang="zh-CN" sz="800" b="0">
                <a:solidFill>
                  <a:srgbClr val="002060"/>
                </a:solidFill>
                <a:latin typeface="Consolas" panose="020B0609020204030204"/>
                <a:ea typeface="Consolas" panose="020B0609020204030204"/>
              </a:rPr>
              <a:t>    Возвратить DP[n][W_max][V_max]</a:t>
            </a:r>
            <a:endParaRPr lang="en-US" altLang="zh-CN" sz="800" b="0">
              <a:solidFill>
                <a:srgbClr val="002060"/>
              </a:solidFill>
              <a:latin typeface="Consolas" panose="020B0609020204030204"/>
              <a:ea typeface="Consolas" panose="020B0609020204030204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 sz="2000" b="1">
                <a:solidFill>
                  <a:srgbClr val="0070C0"/>
                </a:solidFill>
              </a:rPr>
              <a:t>Ключевые</a:t>
            </a:r>
            <a:r>
              <a:rPr lang="en-US" altLang="ru-RU" sz="2000" b="1">
                <a:solidFill>
                  <a:srgbClr val="0070C0"/>
                </a:solidFill>
              </a:rPr>
              <a:t> </a:t>
            </a:r>
            <a:r>
              <a:rPr lang="en-US" altLang="en-US" sz="2000" b="1">
                <a:solidFill>
                  <a:srgbClr val="0070C0"/>
                </a:solidFill>
              </a:rPr>
              <a:t>различия</a:t>
            </a:r>
            <a:endParaRPr lang="en-US" altLang="en-US" sz="2000" b="1">
              <a:solidFill>
                <a:srgbClr val="0070C0"/>
              </a:solidFill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2032000" y="240315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rgbClr val="F9FAFB"/>
                </a:solidFill>
                <a:latin typeface="quote-cjk-patch"/>
                <a:ea typeface="quote-cjk-patch"/>
              </a:rPr>
              <a:t>Ключевые различия</a:t>
            </a:r>
            <a:endParaRPr lang="en-US" altLang="zh-CN" sz="1600" b="0" i="0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2032000" y="2279967"/>
            <a:ext cx="5080000" cy="583565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lnSpc>
                <a:spcPts val="1920"/>
              </a:lnSpc>
              <a:spcBef>
                <a:spcPts val="1900"/>
              </a:spcBef>
              <a:spcAft>
                <a:spcPts val="900"/>
              </a:spcAft>
            </a:pPr>
            <a:r>
              <a:rPr lang="en-US" altLang="zh-CN" sz="1600" b="1">
                <a:solidFill>
                  <a:srgbClr val="F9FAFB"/>
                </a:solidFill>
                <a:latin typeface="quote-cjk-patch"/>
                <a:ea typeface="quote-cjk-patch"/>
              </a:rPr>
              <a:t>1. MultiKnapsack (Динамическое программирование)</a:t>
            </a:r>
            <a:endParaRPr lang="en-US" altLang="zh-CN" sz="1600" b="1">
              <a:solidFill>
                <a:srgbClr val="F9FAFB"/>
              </a:solidFill>
              <a:latin typeface="quote-cjk-patch"/>
              <a:ea typeface="quote-cjk-patch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457200" y="579755"/>
            <a:ext cx="7091680" cy="17456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920"/>
              </a:lnSpc>
              <a:spcBef>
                <a:spcPts val="1900"/>
              </a:spcBef>
              <a:spcAft>
                <a:spcPts val="900"/>
              </a:spcAft>
            </a:pPr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1. MultiKnapsack (Динамическое программирование)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Тип: Точный алгоритм — находит оптимальное решение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Подход: Рассматривает все возможные комбинации с использованием 3D-таблицы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Гарантия: Всегда находит максимально возможную прибыль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Сложность по времени: O(n × W_max × V_max) — экспоненциальная на практике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Сложность по памяти: Высокая (3D-массив)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Clr>
                <a:srgbClr val="0070C0"/>
              </a:buClr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Лучше для: Небольших и средних задач, где важна оптимальность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457200" y="2403475"/>
            <a:ext cx="6872605" cy="19608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920"/>
              </a:lnSpc>
              <a:spcBef>
                <a:spcPts val="1900"/>
              </a:spcBef>
              <a:spcAft>
                <a:spcPts val="900"/>
              </a:spcAft>
            </a:pPr>
            <a:r>
              <a:rPr lang="en-US" altLang="zh-CN" sz="1400" b="1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2. GreedyFeasibilityCheck (Жадная эвристика)</a:t>
            </a:r>
            <a:endParaRPr lang="en-US" altLang="zh-CN" sz="1400" b="1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Тип: Приближенный алгоритм — находит хорошее, но не гарантированно оптимальное решение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Подход: Берёт заказы в порядке убывания плотности прибыли (прибыль/(вес+объём))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Гарантия: Нет гарантии оптимальности, но обычно даёт разумные решения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Сложность по времени: O(n log n) — быстрый и масштабируемый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Сложность по памяти: Низкая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Лучше для: Приложений реального времени с большим количеством заказов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88060" y="142875"/>
            <a:ext cx="7698740" cy="436880"/>
          </a:xfrm>
        </p:spPr>
        <p:txBody>
          <a:bodyPr/>
          <a:p>
            <a:r>
              <a:rPr lang="en-US" altLang="en-US" sz="2000" b="1">
                <a:solidFill>
                  <a:srgbClr val="0070C0"/>
                </a:solidFill>
              </a:rPr>
              <a:t>Какой</a:t>
            </a:r>
            <a:r>
              <a:rPr lang="en-US" altLang="ru-RU" sz="2000" b="1">
                <a:solidFill>
                  <a:srgbClr val="0070C0"/>
                </a:solidFill>
              </a:rPr>
              <a:t> </a:t>
            </a:r>
            <a:r>
              <a:rPr lang="en-US" altLang="en-US" sz="2000" b="1">
                <a:solidFill>
                  <a:srgbClr val="0070C0"/>
                </a:solidFill>
              </a:rPr>
              <a:t>алгоритм</a:t>
            </a:r>
            <a:r>
              <a:rPr lang="en-US" altLang="ru-RU" sz="2000" b="1">
                <a:solidFill>
                  <a:srgbClr val="0070C0"/>
                </a:solidFill>
              </a:rPr>
              <a:t> </a:t>
            </a:r>
            <a:r>
              <a:rPr lang="en-US" altLang="en-US" sz="2000" b="1">
                <a:solidFill>
                  <a:srgbClr val="0070C0"/>
                </a:solidFill>
              </a:rPr>
              <a:t>лучше</a:t>
            </a:r>
            <a:r>
              <a:rPr lang="en-US" altLang="ru-RU" sz="2000" b="1">
                <a:solidFill>
                  <a:srgbClr val="0070C0"/>
                </a:solidFill>
              </a:rPr>
              <a:t> </a:t>
            </a:r>
            <a:r>
              <a:rPr lang="en-US" altLang="en-US" sz="2000" b="1">
                <a:solidFill>
                  <a:srgbClr val="0070C0"/>
                </a:solidFill>
              </a:rPr>
              <a:t>выбрать</a:t>
            </a:r>
            <a:r>
              <a:rPr lang="en-US" altLang="ru-RU" sz="2000" b="1">
                <a:solidFill>
                  <a:srgbClr val="0070C0"/>
                </a:solidFill>
              </a:rPr>
              <a:t>?</a:t>
            </a:r>
            <a:endParaRPr lang="en-US" altLang="ru-RU" sz="2000" b="1">
              <a:solidFill>
                <a:srgbClr val="0070C0"/>
              </a:solidFill>
            </a:endParaRPr>
          </a:p>
        </p:txBody>
      </p:sp>
      <p:sp>
        <p:nvSpPr>
          <p:cNvPr id="7" name="Текстовое поле 6"/>
          <p:cNvSpPr txBox="1"/>
          <p:nvPr/>
        </p:nvSpPr>
        <p:spPr>
          <a:xfrm>
            <a:off x="368935" y="2486025"/>
            <a:ext cx="8093710" cy="265747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>
              <a:lnSpc>
                <a:spcPct val="150000"/>
              </a:lnSpc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Хотя решение с использованием динамического программирования обеспечивает теоретическую оптимальность, его сложность O(n×W×V) делает его непрактичным для логистических платформ реального времени, обрабатывающих сотни одновременных запросов. Для нашей платформы мы реализуем жадную эвристику, которая сортирует заказы по плотности прибыли (прибыль/(вес+объём)) и последовательно принимает выполнимые заказы. Это обеспечивает производительность O(n log n) при достижении 85-95% оптимального использования вместимости на практике.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5985" y="727710"/>
            <a:ext cx="4155440" cy="1758315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64210" y="225425"/>
            <a:ext cx="3183255" cy="436880"/>
          </a:xfrm>
        </p:spPr>
        <p:txBody>
          <a:bodyPr/>
          <a:p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1. Основная</a:t>
            </a:r>
            <a:r>
              <a:rPr lang="en-US" altLang="ru-RU" sz="14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метрика</a:t>
            </a:r>
            <a:r>
              <a:rPr lang="en-US" altLang="ru-RU" sz="14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сортировки</a:t>
            </a:r>
            <a:r>
              <a:rPr lang="en-US" altLang="ru-RU" sz="1400" b="1">
                <a:latin typeface="Times New Roman" panose="02020603050405020304" charset="0"/>
                <a:cs typeface="Times New Roman" panose="02020603050405020304" charset="0"/>
              </a:rPr>
              <a:t> (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плотность</a:t>
            </a:r>
            <a:r>
              <a:rPr lang="en-US" altLang="ru-RU" sz="1400" b="1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 b="1">
                <a:latin typeface="Times New Roman" panose="02020603050405020304" charset="0"/>
                <a:cs typeface="Times New Roman" panose="02020603050405020304" charset="0"/>
              </a:rPr>
              <a:t>прибыли</a:t>
            </a:r>
            <a:r>
              <a:rPr lang="en-US" altLang="ru-RU" sz="1400" b="1">
                <a:latin typeface="Times New Roman" panose="02020603050405020304" charset="0"/>
                <a:cs typeface="Times New Roman" panose="02020603050405020304" charset="0"/>
              </a:rPr>
              <a:t>):</a:t>
            </a:r>
            <a:endParaRPr lang="en-US" altLang="ru-RU" sz="14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1820" y="177165"/>
            <a:ext cx="2096135" cy="67119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2"/>
          <a:srcRect t="22658"/>
          <a:stretch>
            <a:fillRect/>
          </a:stretch>
        </p:blipFill>
        <p:spPr>
          <a:xfrm>
            <a:off x="1007110" y="848360"/>
            <a:ext cx="2840355" cy="713105"/>
          </a:xfrm>
          <a:prstGeom prst="rect">
            <a:avLst/>
          </a:prstGeom>
        </p:spPr>
      </p:pic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210" y="1500505"/>
            <a:ext cx="342900" cy="190500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4237355" y="225425"/>
            <a:ext cx="4756150" cy="275590"/>
          </a:xfrm>
          <a:prstGeom prst="rect">
            <a:avLst/>
          </a:prstGeom>
        </p:spPr>
        <p:txBody>
          <a:bodyPr wrap="square">
            <a:spAutoFit/>
          </a:bodyPr>
          <a:p>
            <a:pPr algn="l" fontAlgn="base">
              <a:buClrTx/>
              <a:buSzTx/>
              <a:buFontTx/>
            </a:pPr>
            <a:r>
              <a:rPr lang="en-US" altLang="en-US" sz="1200" b="1">
                <a:latin typeface="Times New Roman" panose="02020603050405020304" charset="0"/>
                <a:ea typeface="+mj-ea"/>
                <a:cs typeface="Times New Roman" panose="02020603050405020304" charset="0"/>
              </a:rPr>
              <a:t>2. Условие выполнимости для каждого заказа</a:t>
            </a:r>
            <a:endParaRPr lang="en-US" altLang="en-US" sz="1200" b="1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5455" y="541655"/>
            <a:ext cx="1796415" cy="716915"/>
          </a:xfrm>
          <a:prstGeom prst="rect">
            <a:avLst/>
          </a:prstGeom>
        </p:spPr>
      </p:pic>
      <p:pic>
        <p:nvPicPr>
          <p:cNvPr id="10" name="Изображение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4210" y="1213485"/>
            <a:ext cx="5082540" cy="2510790"/>
          </a:xfrm>
          <a:prstGeom prst="rect">
            <a:avLst/>
          </a:prstGeom>
        </p:spPr>
      </p:pic>
      <p:pic>
        <p:nvPicPr>
          <p:cNvPr id="11" name="Изображение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3265" y="3232150"/>
            <a:ext cx="3076575" cy="1605915"/>
          </a:xfrm>
          <a:prstGeom prst="rect">
            <a:avLst/>
          </a:prstGeom>
        </p:spPr>
      </p:pic>
      <p:sp>
        <p:nvSpPr>
          <p:cNvPr id="12" name="Текстовое поле 11"/>
          <p:cNvSpPr txBox="1"/>
          <p:nvPr/>
        </p:nvSpPr>
        <p:spPr>
          <a:xfrm>
            <a:off x="5405120" y="3048635"/>
            <a:ext cx="3738880" cy="2755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en-US" sz="1200" b="1">
                <a:latin typeface="Times New Roman" panose="02020603050405020304" charset="0"/>
                <a:ea typeface="+mj-ea"/>
                <a:cs typeface="Times New Roman" panose="02020603050405020304" charset="0"/>
              </a:rPr>
              <a:t>4. Расчёт эффективности использования ресурсов</a:t>
            </a:r>
            <a:endParaRPr lang="en-US" altLang="en-US" sz="1200" b="1">
              <a:latin typeface="Times New Roman" panose="02020603050405020304" charset="0"/>
              <a:ea typeface="+mj-ea"/>
              <a:cs typeface="Times New Roman" panose="02020603050405020304" charset="0"/>
            </a:endParaRPr>
          </a:p>
        </p:txBody>
      </p:sp>
      <p:sp>
        <p:nvSpPr>
          <p:cNvPr id="13" name="Текстовое поле 12"/>
          <p:cNvSpPr txBox="1"/>
          <p:nvPr/>
        </p:nvSpPr>
        <p:spPr>
          <a:xfrm>
            <a:off x="314325" y="2192655"/>
            <a:ext cx="2780030" cy="27559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3. Алгоритм в математической форме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01210" y="1213485"/>
            <a:ext cx="2949575" cy="979170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2325" y="424180"/>
            <a:ext cx="8217535" cy="436880"/>
          </a:xfrm>
        </p:spPr>
        <p:txBody>
          <a:bodyPr/>
          <a:p>
            <a:pPr algn="l" defTabSz="685800" fontAlgn="auto">
              <a:buClrTx/>
              <a:buSzTx/>
              <a:buFontTx/>
            </a:pPr>
            <a:r>
              <a:rPr lang="en-US" altLang="zh-CN" sz="1600" b="1">
                <a:solidFill>
                  <a:srgbClr val="0070C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Шаг 2: Геопространственный поиск </a:t>
            </a:r>
            <a:r>
              <a:rPr lang="en-US" altLang="zh-CN" sz="1400">
                <a:solidFill>
                  <a:srgbClr val="0070C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(k ближайших соседей с фильтром по расстоянию)</a:t>
            </a:r>
            <a:endParaRPr lang="en-US" altLang="zh-CN" sz="1400">
              <a:solidFill>
                <a:srgbClr val="0070C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16255" y="950595"/>
            <a:ext cx="4220210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После фильтрации заказов по выполнимости необходимо найти ближайшие к водителю заказы.</a:t>
            </a:r>
            <a:endParaRPr lang="en-US" altLang="zh-CN" sz="16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516255" y="1710690"/>
            <a:ext cx="4725670" cy="227647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>
                <a:latin typeface="Times New Roman" panose="02020603050405020304" charset="0"/>
                <a:cs typeface="Times New Roman" panose="02020603050405020304" charset="0"/>
              </a:rPr>
              <a:t>Алгоритм:</a:t>
            </a:r>
            <a:endParaRPr lang="en-US" altLang="zh-CN" sz="1600"/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Использование формулы Гаверсинуса для точного расчета расстояния между водителем и потенциальными заказами.</a:t>
            </a:r>
            <a:endParaRPr lang="en-US" altLang="zh-CN" sz="1400"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Применение R-дерева или индексирования Geohash для быстрого поиска ближайших заказов. Это значительно ускоряет процесс.</a:t>
            </a:r>
            <a:endParaRPr lang="en-US" altLang="zh-CN" sz="1400"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Возврат заказов в пределах настраиваемого радиуса (например, 5 км). Это позволяет гибко подбирать заказы с учетом предпочтений и срочности водителя.</a:t>
            </a:r>
            <a:endParaRPr lang="en-US" altLang="zh-CN" sz="1400"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89830" y="1139825"/>
            <a:ext cx="4014470" cy="3115310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altLang="en-US" sz="2000" b="1">
                <a:solidFill>
                  <a:srgbClr val="0070C0"/>
                </a:solidFill>
              </a:rPr>
              <a:t>Геопространственный поиск: </a:t>
            </a:r>
            <a:r>
              <a:rPr lang="en-US" altLang="en-US" sz="1400">
                <a:solidFill>
                  <a:srgbClr val="0070C0"/>
                </a:solidFill>
              </a:rPr>
              <a:t>Geohash + k ближайших соседей</a:t>
            </a:r>
            <a:endParaRPr lang="en-US" altLang="en-US" sz="1400">
              <a:solidFill>
                <a:srgbClr val="0070C0"/>
              </a:solidFill>
            </a:endParaRPr>
          </a:p>
        </p:txBody>
      </p:sp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rcRect t="44268" r="16646"/>
          <a:stretch>
            <a:fillRect/>
          </a:stretch>
        </p:blipFill>
        <p:spPr>
          <a:xfrm>
            <a:off x="290195" y="1650365"/>
            <a:ext cx="4175125" cy="113919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195" y="2851150"/>
            <a:ext cx="4082415" cy="2229485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195" y="742950"/>
            <a:ext cx="1818005" cy="448310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290195" y="1191260"/>
            <a:ext cx="4174490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000"/>
              <a:t>Кодирование географических координат в строковый префикс для быстрой пространственной группировки.</a:t>
            </a:r>
            <a:endParaRPr lang="en-US" altLang="zh-CN" sz="1000"/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1995" y="3750945"/>
            <a:ext cx="4441190" cy="1027430"/>
          </a:xfrm>
          <a:prstGeom prst="rect">
            <a:avLst/>
          </a:prstGeom>
        </p:spPr>
      </p:pic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1995" y="579755"/>
            <a:ext cx="4414520" cy="3001010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57885" y="142875"/>
            <a:ext cx="7828915" cy="396240"/>
          </a:xfrm>
        </p:spPr>
        <p:txBody>
          <a:bodyPr/>
          <a:p>
            <a:pPr algn="ctr"/>
            <a:r>
              <a:rPr lang="en-US" altLang="en-US" sz="2000" b="1">
                <a:solidFill>
                  <a:srgbClr val="0070C0"/>
                </a:solidFill>
              </a:rPr>
              <a:t>Оптимизация маршрута</a:t>
            </a:r>
            <a:endParaRPr lang="en-US" altLang="ru-RU"/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" y="539115"/>
            <a:ext cx="4444365" cy="227076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332740" y="2809875"/>
            <a:ext cx="8719185" cy="201231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lnSpc>
                <a:spcPts val="1800"/>
              </a:lnSpc>
              <a:spcBef>
                <a:spcPts val="1900"/>
              </a:spcBef>
              <a:spcAft>
                <a:spcPts val="900"/>
              </a:spcAft>
            </a:pPr>
            <a:r>
              <a:rPr lang="en-US" altLang="zh-CN" sz="1400" b="1">
                <a:solidFill>
                  <a:srgbClr val="0070C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Случай 1: Начало движения из одной точки с несколькими остановками</a:t>
            </a:r>
            <a:endParaRPr lang="en-US" altLang="zh-CN" sz="1400" b="1">
              <a:solidFill>
                <a:srgbClr val="0070C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Лучший алгоритм: Алгоритм ближайшего соседа с оптимизацией 2-opt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AutoNum type="arabicPeriod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Алгоритм ближайшего соседа: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Как работает: Водитель начинает с точки А. На каждом шаге выбирает самую близкую ещё не посещённую точку.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Сложность: 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O(n²) — очень быстро.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Плюс: Прост в реализации, даёт разумный маршрут.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598805" y="455930"/>
            <a:ext cx="8181975" cy="14351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spcBef>
                <a:spcPct val="0"/>
              </a:spcBef>
              <a:spcAft>
                <a:spcPts val="400"/>
              </a:spcAft>
              <a:buNone/>
            </a:pPr>
            <a:r>
              <a:rPr lang="en-US" altLang="zh-CN" sz="1400"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2. Оптимизация 2-opt: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Как работает: Берёт готовый маршрут и пытается его улучшить. Проверяет все пары рёбер в маршруте. Если их пересечение укорачивает путь — перестраивает маршрут.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Сложность: O(k * n²), где k — число итераций (обычно мало).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lvl="1" algn="l">
              <a:buClr>
                <a:srgbClr val="0070C0"/>
              </a:buClr>
              <a:buSzTx/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ea typeface="quote-cjk-patch"/>
                <a:cs typeface="Times New Roman" panose="02020603050405020304" charset="0"/>
                <a:sym typeface="+mn-ea"/>
              </a:rPr>
              <a:t>Итог: Комбинация "Ближайший сосед" → "2-opt" даёт очень хороший, почти оптимальный маршрут и пишется за пару дней.</a:t>
            </a:r>
            <a:endParaRPr lang="en-US" altLang="zh-CN" sz="1400">
              <a:latin typeface="Times New Roman" panose="02020603050405020304" charset="0"/>
              <a:ea typeface="quote-cjk-patch"/>
              <a:cs typeface="Times New Roman" panose="02020603050405020304" charset="0"/>
              <a:sym typeface="+mn-ea"/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5" name="Текстовое поле 4"/>
          <p:cNvSpPr txBox="1"/>
          <p:nvPr/>
        </p:nvSpPr>
        <p:spPr>
          <a:xfrm>
            <a:off x="664210" y="1891030"/>
            <a:ext cx="6447790" cy="321945"/>
          </a:xfrm>
          <a:prstGeom prst="rect">
            <a:avLst/>
          </a:prstGeom>
        </p:spPr>
        <p:txBody>
          <a:bodyPr wrap="square">
            <a:spAutoFit/>
          </a:bodyPr>
          <a:p>
            <a:pPr marL="0" algn="l">
              <a:lnSpc>
                <a:spcPts val="1800"/>
              </a:lnSpc>
              <a:spcBef>
                <a:spcPts val="1900"/>
              </a:spcBef>
              <a:spcAft>
                <a:spcPts val="900"/>
              </a:spcAft>
              <a:buClrTx/>
              <a:buSzTx/>
              <a:buFontTx/>
            </a:pPr>
            <a:r>
              <a:rPr lang="en-US" altLang="zh-CN" sz="1400" b="1">
                <a:solidFill>
                  <a:srgbClr val="0070C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Случай 2: Движущийся водитель – динамическое добавление заказа</a:t>
            </a:r>
            <a:endParaRPr lang="en-US" altLang="zh-CN" sz="1400" b="1">
              <a:solidFill>
                <a:srgbClr val="0070C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sp>
        <p:nvSpPr>
          <p:cNvPr id="6" name="Текстовое поле 5"/>
          <p:cNvSpPr txBox="1"/>
          <p:nvPr/>
        </p:nvSpPr>
        <p:spPr>
          <a:xfrm>
            <a:off x="598805" y="2106295"/>
            <a:ext cx="5782945" cy="292544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Лучший алгоритм: Жадная вставка с наименьшим увеличением пути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Как работает: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У водителя уже есть текущий маршрут 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[A → B → C → D]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Появляется новый заказ в точке 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X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1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◦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Мы проверяем все возможные места в маршруте для вставки 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X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: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2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A → X → B → C → D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0" lvl="2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A → B → X → C → D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0" lvl="2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A → B → C → X → D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0" lvl="2" indent="0">
              <a:lnSpc>
                <a:spcPts val="1320"/>
              </a:lnSpc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A → B → C → D → X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Menlo"/>
              <a:cs typeface="Times New Roman" panose="0202060305040502030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Для каждого варианта считаем, насколько удлинится маршрут.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1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◦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Выбираем вариант с минимальным увеличением расстояния.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Сложность: 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Menlo"/>
                <a:cs typeface="Times New Roman" panose="02020603050405020304" charset="0"/>
              </a:rPr>
              <a:t>O(n²)</a:t>
            </a: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 на одну вставку — отлично для реального времени.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Плюс: Интуитивно понятен, легко дебажить, даёт хорошие результаты.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pic>
        <p:nvPicPr>
          <p:cNvPr id="7" name="Изображение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0" y="1835785"/>
            <a:ext cx="2596515" cy="303593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altLang="en-US" sz="1800" b="1">
                <a:solidFill>
                  <a:srgbClr val="0070C0"/>
                </a:solidFill>
              </a:rPr>
              <a:t>Часть</a:t>
            </a:r>
            <a:r>
              <a:rPr lang="en-US" altLang="ru-RU" sz="1800" b="1">
                <a:solidFill>
                  <a:srgbClr val="0070C0"/>
                </a:solidFill>
              </a:rPr>
              <a:t> 2: </a:t>
            </a:r>
            <a:r>
              <a:rPr lang="en-US" altLang="en-US" sz="1800" b="1">
                <a:solidFill>
                  <a:srgbClr val="0070C0"/>
                </a:solidFill>
              </a:rPr>
              <a:t>Алгоритмы</a:t>
            </a:r>
            <a:r>
              <a:rPr lang="en-US" altLang="ru-RU" sz="1800" b="1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для</a:t>
            </a:r>
            <a:r>
              <a:rPr lang="en-US" altLang="ru-RU" sz="1800" b="1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стороны</a:t>
            </a:r>
            <a:r>
              <a:rPr lang="en-US" altLang="ru-RU" sz="1800" b="1">
                <a:solidFill>
                  <a:srgbClr val="0070C0"/>
                </a:solidFill>
              </a:rPr>
              <a:t> </a:t>
            </a:r>
            <a:r>
              <a:rPr lang="en-US" altLang="en-US" sz="1800" b="1">
                <a:solidFill>
                  <a:srgbClr val="0070C0"/>
                </a:solidFill>
              </a:rPr>
              <a:t>клиента</a:t>
            </a:r>
            <a:endParaRPr lang="en-US" altLang="en-US" sz="1800" b="1">
              <a:solidFill>
                <a:srgbClr val="0070C0"/>
              </a:solidFill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3" name="Текстовое поле 2"/>
          <p:cNvSpPr txBox="1"/>
          <p:nvPr/>
        </p:nvSpPr>
        <p:spPr>
          <a:xfrm>
            <a:off x="1079500" y="67341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>
              <a:spcAft>
                <a:spcPct val="0"/>
              </a:spcAft>
            </a:pPr>
            <a:r>
              <a:rPr lang="en-US" altLang="zh-CN" sz="1600" b="1"/>
              <a:t>1. Интеллектуальная классификация заказов</a:t>
            </a:r>
            <a:endParaRPr lang="en-US" altLang="zh-CN" sz="1600" b="1"/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720" y="1010920"/>
            <a:ext cx="4349750" cy="361569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4156075" y="1010920"/>
            <a:ext cx="5080000" cy="3289300"/>
          </a:xfrm>
          <a:prstGeom prst="rect">
            <a:avLst/>
          </a:prstGeom>
        </p:spPr>
        <p:txBody>
          <a:bodyPr>
            <a:spAutoFit/>
          </a:bodyPr>
          <a:p>
            <a:pPr marL="0" indent="0">
              <a:spcBef>
                <a:spcPct val="0"/>
              </a:spcBef>
              <a:spcAft>
                <a:spcPct val="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Входные данные: Категория предмета, вес, объем, срочность, особые требования, адреса.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ct val="0"/>
              </a:spcBef>
              <a:spcAft>
                <a:spcPts val="400"/>
              </a:spcAft>
              <a:buFont typeface="Arial" panose="020B0604020202020204"/>
              <a:buChar char="•"/>
            </a:pPr>
            <a:r>
              <a:rPr lang="en-US" altLang="zh-CN" sz="1400" b="0" i="0">
                <a:solidFill>
                  <a:srgbClr val="FF000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Процесс:</a:t>
            </a:r>
            <a:endParaRPr lang="en-US" altLang="zh-CN" sz="1400" b="0" i="0">
              <a:solidFill>
                <a:srgbClr val="FF000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1" indent="45720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1. Многокритериальное принятие решений (MCDM) или экспертная система для рекомендации типа автомобиля.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1" indent="45720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2. Нечеткая логика или Машинное обучение (модели классификации) для работы с неопределенными данными.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lvl="1" indent="457200">
              <a:spcBef>
                <a:spcPct val="0"/>
              </a:spcBef>
              <a:spcAft>
                <a:spcPct val="0"/>
              </a:spcAft>
              <a:buFont typeface="Arial" panose="020B0604020202020204"/>
              <a:buNone/>
            </a:pPr>
            <a:r>
              <a:rPr lang="en-US" altLang="zh-CN" sz="14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3.Интеграция с алгоритмом "рюкзака" со стороны водителя для гарантии выполнимости.</a:t>
            </a:r>
            <a:endParaRPr lang="en-US" altLang="zh-CN" sz="14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0" i="0">
                <a:solidFill>
                  <a:srgbClr val="FF000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Логический поток:</a:t>
            </a:r>
            <a:endParaRPr lang="en-US" altLang="zh-CN" sz="1400" b="0" i="0">
              <a:solidFill>
                <a:srgbClr val="FF000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400" b="0" i="0">
                <a:solidFill>
                  <a:srgbClr val="0070C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Ввод данных клиента → Классификационный движок → Рекомендация типа авто → Сопоставление с водителем</a:t>
            </a:r>
            <a:endParaRPr lang="en-US" altLang="zh-CN" sz="1400" b="0" i="0">
              <a:solidFill>
                <a:srgbClr val="0070C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1231900" y="149860"/>
            <a:ext cx="6679565" cy="337185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zh-CN" sz="1600" b="1">
                <a:solidFill>
                  <a:srgbClr val="0070C0"/>
                </a:solidFill>
              </a:rPr>
              <a:t>2. Балансировка нагрузки (порядок упаковки для водителя)</a:t>
            </a:r>
            <a:endParaRPr lang="en-US" altLang="zh-CN" sz="1600" b="1">
              <a:solidFill>
                <a:srgbClr val="0070C0"/>
              </a:solidFill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584200" y="487045"/>
            <a:ext cx="6172200" cy="73723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Цель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: Повысить устойчивость и безопасность транспортного средства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Подход</a:t>
            </a: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: Расположить товары внутри назначенного автомобиля так, чтобы центр тяжести был оптимальным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200" y="1254125"/>
            <a:ext cx="5055870" cy="181737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200" y="3071495"/>
            <a:ext cx="5055870" cy="789940"/>
          </a:xfrm>
          <a:prstGeom prst="rect">
            <a:avLst/>
          </a:prstGeom>
        </p:spPr>
      </p:pic>
      <p:sp>
        <p:nvSpPr>
          <p:cNvPr id="8" name="Текстовое поле 7"/>
          <p:cNvSpPr txBox="1"/>
          <p:nvPr/>
        </p:nvSpPr>
        <p:spPr>
          <a:xfrm>
            <a:off x="584200" y="3938270"/>
            <a:ext cx="5080000" cy="953135"/>
          </a:xfrm>
          <a:prstGeom prst="rect">
            <a:avLst/>
          </a:prstGeom>
        </p:spPr>
        <p:txBody>
          <a:bodyPr>
            <a:spAutoFit/>
          </a:bodyPr>
          <a:p>
            <a:pPr algn="just">
              <a:spcAft>
                <a:spcPct val="0"/>
              </a:spcAft>
            </a:pPr>
            <a:r>
              <a:rPr lang="en-US" altLang="zh-CN" sz="1400" b="1"/>
              <a:t>Главный вывод</a:t>
            </a:r>
            <a:endParaRPr lang="en-US" altLang="zh-CN" sz="1400" b="1"/>
          </a:p>
          <a:p>
            <a:pPr algn="just"/>
            <a:r>
              <a:rPr lang="en-US" altLang="zh-CN" sz="1400"/>
              <a:t>Эффективный выбор заказов + упаковка с учетом веса → быстро, масштабируемо и безопасно для выполнения маршрута водителем</a:t>
            </a:r>
            <a:endParaRPr lang="en-US" altLang="zh-CN" sz="1400"/>
          </a:p>
        </p:txBody>
      </p:sp>
      <p:pic>
        <p:nvPicPr>
          <p:cNvPr id="9" name="Изображение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3080" y="1249045"/>
            <a:ext cx="3353435" cy="34366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>
              <a:buClrTx/>
              <a:buSzTx/>
              <a:buFontTx/>
            </a:pPr>
            <a:r>
              <a:rPr lang="en-US" altLang="en-US">
                <a:solidFill>
                  <a:srgbClr val="0070C0"/>
                </a:solidFill>
              </a:rPr>
              <a:t>Сравнение с существующими рыночными решениями</a:t>
            </a:r>
            <a:endParaRPr lang="en-US" altLang="en-US">
              <a:solidFill>
                <a:srgbClr val="0070C0"/>
              </a:solidFill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graphicFrame>
        <p:nvGraphicFramePr>
          <p:cNvPr id="3" name="Таблица 2"/>
          <p:cNvGraphicFramePr/>
          <p:nvPr>
            <p:custDataLst>
              <p:tags r:id="rId2"/>
            </p:custDataLst>
          </p:nvPr>
        </p:nvGraphicFramePr>
        <p:xfrm>
          <a:off x="457835" y="793115"/>
          <a:ext cx="7839075" cy="4030345"/>
        </p:xfrm>
        <a:graphic>
          <a:graphicData uri="http://schemas.openxmlformats.org/drawingml/2006/table">
            <a:tbl>
              <a:tblPr/>
              <a:tblGrid>
                <a:gridCol w="1816735"/>
                <a:gridCol w="2713990"/>
                <a:gridCol w="3308350"/>
              </a:tblGrid>
              <a:tr h="415290"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Функция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Текущий рынок (Uber, DHL, Яндекс Go, CDEK и др.)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lang="en-US" altLang="zh-CN" sz="1200" b="1" i="0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Наше решение</a:t>
                      </a:r>
                      <a:endParaRPr lang="en-US" altLang="zh-CN" sz="1200" b="1" i="0"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37540"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Подбор заказ–водитель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Часто только по близости или доступности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GreedyFeasibilityCheck + Geohash + k-NN (прибыльность + выполнимость + близость)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1535"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Оптимизация маршрута / выбор кандидатов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Статические маршруты, минимальная корректировка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Геопространственная префильтрация + выбор k ближайших для быстрого сокращения числа кандидатов (~10 000 → 300 заказов)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29285"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Планирование нагрузки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Вручную или базовые проверки объема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Автоматизированная упаковка в контейнеры + оптимизация центра тяжести (безопасно и эффективно)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52805"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Масштабируемость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Ограничена простыми эвристиками или жёстко заданными правилами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Индексированный поиск Geohash + жадные эвристики (быстро, мало памяти, масштабируется на большой объём заказов)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43890"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Адаптация в реальном времени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0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Слабая; маршруты часто фиксированы</a:t>
                      </a:r>
                      <a:endParaRPr lang="en-US" altLang="zh-CN" sz="1200" b="0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lang="en-US" altLang="zh-CN" sz="1200" b="1" i="0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</a:rPr>
                        <a:t>Отличная; быстрая фильтрация кандидатов и жадное распределение заказов &lt;100 мс для реального времени</a:t>
                      </a:r>
                      <a:endParaRPr lang="en-US" altLang="zh-CN" sz="1200" b="1" i="0">
                        <a:solidFill>
                          <a:srgbClr val="000000"/>
                        </a:solidFill>
                        <a:latin typeface="Times New Roman" panose="02020603050405020304"/>
                        <a:ea typeface="Times New Roman" panose="02020603050405020304"/>
                      </a:endParaRPr>
                    </a:p>
                  </a:txBody>
                  <a:tcPr marL="7937" marR="7937" marT="7937" marB="0" anchor="ctr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508635" y="340360"/>
            <a:ext cx="8635365" cy="95313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Ключевые преимущества</a:t>
            </a:r>
            <a:endParaRPr lang="en-US" altLang="zh-CN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Объединяет выполнимость, эффективность и безопасность в одной интегрированной модели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Обрабатывает реальное время и большой объём заказов лучше, чем решения только на основе близости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Работает для приложений реального времени без тяжёлых вычислений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508635" y="1293495"/>
            <a:ext cx="8492490" cy="246126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spcAft>
                <a:spcPct val="0"/>
              </a:spcAft>
            </a:pPr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Сравнительный анализ</a:t>
            </a:r>
            <a:endParaRPr lang="en-US" altLang="zh-CN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Российские примеры: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Яндекс Go / Яндекс.Доставка: в основном подбор по близости, минимальная оптимизация в реальном времени, ограниченное планирование загрузки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CDEK / Boxberry: частичная оптимизация маршрутов, но ручная упаковка, без приоритизации по плотности прибыли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>
              <a:buFont typeface="Arial" panose="020B0604020202020204"/>
              <a:buChar char="•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Международные примеры: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Uber / Uber Eats: динамический подбор водителей, но оптимизация прибыли и нагрузки не интегрирована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  <a:p>
            <a:pPr lvl="1">
              <a:buFont typeface="Arial" panose="020B0604020202020204"/>
              <a:buChar char="◦"/>
            </a:pPr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DHL / FedEx: крупномасштабная оффлайн-оптимизация VRP, не полностью в реальном времени для last-mile доставки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5" name="Текстовое поле 4"/>
          <p:cNvSpPr txBox="1"/>
          <p:nvPr/>
        </p:nvSpPr>
        <p:spPr>
          <a:xfrm>
            <a:off x="233680" y="3754755"/>
            <a:ext cx="8996045" cy="1162685"/>
          </a:xfrm>
          <a:prstGeom prst="rect">
            <a:avLst/>
          </a:prstGeom>
        </p:spPr>
        <p:txBody>
          <a:bodyPr wrap="square">
            <a:noAutofit/>
          </a:bodyPr>
          <a:p>
            <a:r>
              <a:rPr lang="en-US" altLang="zh-CN" sz="1400" b="1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Вывод:</a:t>
            </a:r>
            <a:endParaRPr lang="en-US" altLang="zh-CN" sz="1400" b="1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zh-CN" sz="1400">
                <a:latin typeface="Times New Roman" panose="02020603050405020304" charset="0"/>
                <a:cs typeface="Times New Roman" panose="02020603050405020304" charset="0"/>
              </a:rPr>
              <a:t>Наше решение сочетает быструю проверку выполнимости в реальном времени, геопространственную префильтрацию и учёт веса при упаковке, обеспечивая эффективное, масштабируемое и безопасное выполнение маршрутов водителя — то, чего большинство игроков на рынке полностью не интегрируют.</a:t>
            </a:r>
            <a:endParaRPr lang="en-US" altLang="zh-CN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 defTabSz="685800" fontAlgn="auto">
              <a:buClrTx/>
              <a:buSzTx/>
              <a:buFontTx/>
            </a:pPr>
            <a:r>
              <a:rPr lang="en-US" altLang="zh-CN" sz="2000" b="1">
                <a:solidFill>
                  <a:srgbClr val="0070C0"/>
                </a:solidFill>
                <a:latin typeface="+mn-lt"/>
                <a:ea typeface="+mn-ea"/>
                <a:cs typeface="+mn-cs"/>
              </a:rPr>
              <a:t>Архитектура базы данных DeliveryMatch</a:t>
            </a:r>
            <a:br>
              <a:rPr lang="en-US" altLang="zh-CN" sz="1600" b="1">
                <a:solidFill>
                  <a:srgbClr val="0070C0"/>
                </a:solidFill>
                <a:latin typeface="+mn-lt"/>
                <a:ea typeface="+mn-ea"/>
                <a:cs typeface="+mn-cs"/>
              </a:rPr>
            </a:br>
            <a:r>
              <a:rPr lang="en-US" altLang="zh-CN" sz="1600" b="1">
                <a:solidFill>
                  <a:srgbClr val="0070C0"/>
                </a:solidFill>
                <a:latin typeface="+mn-lt"/>
                <a:ea typeface="+mn-ea"/>
                <a:cs typeface="+mn-cs"/>
              </a:rPr>
              <a:t>Полная модель данных и руководство по реализации</a:t>
            </a:r>
            <a:endParaRPr lang="en-US" altLang="zh-CN" sz="1600" b="1">
              <a:solidFill>
                <a:srgbClr val="0070C0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7280910" y="990600"/>
            <a:ext cx="1588135" cy="23831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en-US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Архитектура</a:t>
            </a:r>
            <a:r>
              <a:rPr lang="en-US" altLang="ru-RU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solidFill>
                  <a:srgbClr val="FF0000"/>
                </a:solidFill>
                <a:latin typeface="Times New Roman" panose="02020603050405020304" charset="0"/>
                <a:cs typeface="Times New Roman" panose="02020603050405020304" charset="0"/>
              </a:rPr>
              <a:t>микросервисов</a:t>
            </a:r>
            <a:endParaRPr lang="en-US" altLang="en-US" sz="1400">
              <a:solidFill>
                <a:srgbClr val="FF0000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8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независимых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сервисов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с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выделенными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базами</a:t>
            </a:r>
            <a:r>
              <a:rPr lang="en-US" altLang="ru-RU" sz="1400">
                <a:latin typeface="Times New Roman" panose="02020603050405020304" charset="0"/>
                <a:cs typeface="Times New Roman" panose="02020603050405020304" charset="0"/>
              </a:rPr>
              <a:t> </a:t>
            </a:r>
            <a:r>
              <a:rPr lang="en-US" altLang="en-US" sz="1400">
                <a:latin typeface="Times New Roman" panose="02020603050405020304" charset="0"/>
                <a:cs typeface="Times New Roman" panose="02020603050405020304" charset="0"/>
              </a:rPr>
              <a:t>данных</a:t>
            </a:r>
            <a:endParaRPr lang="ru-RU" altLang="en-US" sz="1400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760" y="717550"/>
            <a:ext cx="7168515" cy="4288155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285" y="501015"/>
            <a:ext cx="8033385" cy="4642485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1310640" y="137160"/>
            <a:ext cx="6781165" cy="26162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zh-CN" sz="2000" b="1">
                <a:solidFill>
                  <a:srgbClr val="0070C0"/>
                </a:solidFill>
                <a:sym typeface="+mn-ea"/>
              </a:rPr>
              <a:t>Архитектура базы данных DeliveryMatch</a:t>
            </a:r>
            <a:endParaRPr lang="en-US" altLang="zh-CN" sz="2000" b="1">
              <a:solidFill>
                <a:srgbClr val="0070C0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5240"/>
            <a:ext cx="9143365" cy="5113020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Изображение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76200" y="0"/>
            <a:ext cx="6533515" cy="5143500"/>
          </a:xfrm>
          <a:prstGeom prst="rect">
            <a:avLst/>
          </a:prstGeom>
        </p:spPr>
      </p:pic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pic>
        <p:nvPicPr>
          <p:cNvPr id="4" name="Изображение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405" y="4042410"/>
            <a:ext cx="2033270" cy="1004570"/>
          </a:xfrm>
          <a:prstGeom prst="rect">
            <a:avLst/>
          </a:prstGeom>
        </p:spPr>
      </p:pic>
      <p:pic>
        <p:nvPicPr>
          <p:cNvPr id="6" name="Изображение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2135" y="2687955"/>
            <a:ext cx="3178810" cy="1675765"/>
          </a:xfrm>
          <a:prstGeom prst="rect">
            <a:avLst/>
          </a:prstGeom>
        </p:spPr>
      </p:pic>
      <p:sp>
        <p:nvSpPr>
          <p:cNvPr id="7" name="Текстовое поле 6"/>
          <p:cNvSpPr txBox="1"/>
          <p:nvPr/>
        </p:nvSpPr>
        <p:spPr>
          <a:xfrm>
            <a:off x="4911090" y="283845"/>
            <a:ext cx="24758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 b="1">
                <a:solidFill>
                  <a:srgbClr val="0070C0"/>
                </a:solidFill>
              </a:rPr>
              <a:t>Визуальная</a:t>
            </a:r>
            <a:r>
              <a:rPr lang="en-US" altLang="ru-RU" sz="1600" b="1">
                <a:solidFill>
                  <a:srgbClr val="0070C0"/>
                </a:solidFill>
              </a:rPr>
              <a:t> </a:t>
            </a:r>
            <a:r>
              <a:rPr lang="en-US" altLang="en-US" sz="1600" b="1">
                <a:solidFill>
                  <a:srgbClr val="0070C0"/>
                </a:solidFill>
              </a:rPr>
              <a:t>схема</a:t>
            </a:r>
            <a:endParaRPr lang="en-US" altLang="en-US" sz="1600" b="1">
              <a:solidFill>
                <a:srgbClr val="0070C0"/>
              </a:solidFill>
            </a:endParaRPr>
          </a:p>
        </p:txBody>
      </p:sp>
      <p:sp>
        <p:nvSpPr>
          <p:cNvPr id="8" name="Текстовое поле 7"/>
          <p:cNvSpPr txBox="1"/>
          <p:nvPr/>
        </p:nvSpPr>
        <p:spPr>
          <a:xfrm>
            <a:off x="5925185" y="1186815"/>
            <a:ext cx="3420110" cy="10560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200"/>
              <a:t>📊</a:t>
            </a:r>
            <a:r>
              <a:rPr lang="en-US" altLang="en-US" sz="1200"/>
              <a:t>Всего</a:t>
            </a:r>
            <a:r>
              <a:rPr lang="en-US" altLang="ru-RU" sz="1200"/>
              <a:t> </a:t>
            </a:r>
            <a:r>
              <a:rPr lang="en-US" altLang="en-US" sz="1200"/>
              <a:t>таблиц</a:t>
            </a:r>
            <a:r>
              <a:rPr lang="en-US" altLang="ru-RU" sz="1200"/>
              <a:t>: 12</a:t>
            </a:r>
            <a:endParaRPr lang="en-US" altLang="ru-RU" sz="1200"/>
          </a:p>
          <a:p>
            <a:r>
              <a:rPr lang="zh-CN" altLang="en-US" sz="1200"/>
              <a:t>👥</a:t>
            </a:r>
            <a:r>
              <a:rPr lang="en-US" altLang="ru-RU" sz="1200"/>
              <a:t> </a:t>
            </a:r>
            <a:r>
              <a:rPr lang="en-US" altLang="en-US" sz="1200"/>
              <a:t>Управление</a:t>
            </a:r>
            <a:r>
              <a:rPr lang="en-US" altLang="ru-RU" sz="1200"/>
              <a:t> </a:t>
            </a:r>
            <a:r>
              <a:rPr lang="en-US" altLang="en-US" sz="1200"/>
              <a:t>пользователями</a:t>
            </a:r>
            <a:r>
              <a:rPr lang="en-US" altLang="ru-RU" sz="1200"/>
              <a:t>: 3 </a:t>
            </a:r>
            <a:r>
              <a:rPr lang="en-US" altLang="en-US" sz="1200"/>
              <a:t>таблицы</a:t>
            </a:r>
            <a:endParaRPr lang="en-US" altLang="en-US" sz="1200"/>
          </a:p>
          <a:p>
            <a:r>
              <a:rPr lang="zh-CN" altLang="en-US" sz="1200"/>
              <a:t>📦</a:t>
            </a:r>
            <a:r>
              <a:rPr lang="en-US" altLang="ru-RU" sz="1200"/>
              <a:t> </a:t>
            </a:r>
            <a:r>
              <a:rPr lang="en-US" altLang="en-US" sz="1200"/>
              <a:t>Система</a:t>
            </a:r>
            <a:r>
              <a:rPr lang="en-US" altLang="ru-RU" sz="1200"/>
              <a:t> </a:t>
            </a:r>
            <a:r>
              <a:rPr lang="en-US" altLang="en-US" sz="1200"/>
              <a:t>заказов</a:t>
            </a:r>
            <a:r>
              <a:rPr lang="en-US" altLang="ru-RU" sz="1200"/>
              <a:t>: 4 </a:t>
            </a:r>
            <a:r>
              <a:rPr lang="en-US" altLang="en-US" sz="1200"/>
              <a:t>таблицы</a:t>
            </a:r>
            <a:endParaRPr lang="en-US" altLang="en-US" sz="1200"/>
          </a:p>
          <a:p>
            <a:r>
              <a:rPr lang="zh-CN" altLang="en-US" sz="1200"/>
              <a:t>💰</a:t>
            </a:r>
            <a:r>
              <a:rPr lang="en-US" altLang="ru-RU" sz="1200"/>
              <a:t> </a:t>
            </a:r>
            <a:r>
              <a:rPr lang="en-US" altLang="en-US" sz="1200"/>
              <a:t>Финансы</a:t>
            </a:r>
            <a:r>
              <a:rPr lang="en-US" altLang="ru-RU" sz="1200"/>
              <a:t>: 2 </a:t>
            </a:r>
            <a:r>
              <a:rPr lang="en-US" altLang="en-US" sz="1200"/>
              <a:t>таблицы</a:t>
            </a:r>
            <a:endParaRPr lang="en-US" altLang="en-US" sz="1200"/>
          </a:p>
          <a:p>
            <a:r>
              <a:rPr lang="zh-CN" altLang="en-US" sz="1200"/>
              <a:t>🔔</a:t>
            </a:r>
            <a:r>
              <a:rPr lang="en-US" altLang="ru-RU" sz="1200"/>
              <a:t> </a:t>
            </a:r>
            <a:r>
              <a:rPr lang="en-US" altLang="en-US" sz="1200"/>
              <a:t>Коммуникации</a:t>
            </a:r>
            <a:r>
              <a:rPr lang="en-US" altLang="ru-RU" sz="1200"/>
              <a:t>: 3 </a:t>
            </a:r>
            <a:r>
              <a:rPr lang="en-US" altLang="en-US" sz="1200"/>
              <a:t>таблицы</a:t>
            </a:r>
            <a:endParaRPr lang="ru-RU" altLang="en-US"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Текстовое поле 2"/>
          <p:cNvSpPr txBox="1"/>
          <p:nvPr/>
        </p:nvSpPr>
        <p:spPr>
          <a:xfrm>
            <a:off x="2367280" y="14128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2000" b="1" i="0">
                <a:solidFill>
                  <a:srgbClr val="0070C0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Инновации и эффект</a:t>
            </a:r>
            <a:endParaRPr lang="en-US" altLang="zh-CN" sz="2000" b="1" i="0">
              <a:solidFill>
                <a:srgbClr val="0070C0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  <p:pic>
        <p:nvPicPr>
          <p:cNvPr id="138" name="Изображение 13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04200" y="73660"/>
            <a:ext cx="742315" cy="720090"/>
          </a:xfrm>
          <a:prstGeom prst="rect">
            <a:avLst/>
          </a:prstGeom>
        </p:spPr>
      </p:pic>
      <p:sp>
        <p:nvSpPr>
          <p:cNvPr id="4" name="Текстовое поле 3"/>
          <p:cNvSpPr txBox="1"/>
          <p:nvPr/>
        </p:nvSpPr>
        <p:spPr>
          <a:xfrm>
            <a:off x="422275" y="826135"/>
            <a:ext cx="7548880" cy="36683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Единая математическая модель: Первая платформа, объединяющая GreedyFeasibilityCheck (задача о рюкзаке), Геопространственную префильтрацию (Geohash + k-NN) и план загрузки.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Повторная оптимизация в реальном времени: Адаптируется к движению водителей и новым заказам за счёт быстрой жадной эвристики и геопространственного поиска.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Планирование нагрузки с приоритетом безопасности: Автоматизированная упаковка в контейнеры + оптимизация центра тяжести снижает риск аварий.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Масштабируемая и практичная: Использует индексированный поиск Geohash и жадные эвристики для скорости в реальных условиях</a:t>
            </a:r>
            <a:r>
              <a:rPr lang="en-US" altLang="zh-CN" sz="16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.</a:t>
            </a:r>
            <a:endParaRPr lang="en-US" altLang="zh-CN" sz="16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olidFill>
                  <a:srgbClr val="0070C0"/>
                </a:solidFill>
              </a:rPr>
              <a:t>Заключение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4" name="Текстовое поле 3"/>
          <p:cNvSpPr txBox="1"/>
          <p:nvPr/>
        </p:nvSpPr>
        <p:spPr>
          <a:xfrm>
            <a:off x="770255" y="746760"/>
            <a:ext cx="7389495" cy="3769995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Разработана математически обоснованная логистическая платформа.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Интегрированы модели: GreedyFeasibilityCheck (задача о рюкзаке), геопространственный поиск (Geohash + k-NN), автоматизированная упаковка в контейнеры, оптимизация центра тяжести.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Превосходит существующие решения по выполнимости (GreedyFeasibilityCheck), безопасности (оптимизация центра тяжести) и адаптации (геопространственный поиск в реальном времени).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 algn="l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Готова к внедрению с использованием современного технологического стека.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>
                <a:solidFill>
                  <a:srgbClr val="0070C0"/>
                </a:solidFill>
              </a:rPr>
              <a:t>Дальнейшие</a:t>
            </a:r>
            <a:r>
              <a:rPr lang="en-US" altLang="ru-RU">
                <a:solidFill>
                  <a:srgbClr val="0070C0"/>
                </a:solidFill>
              </a:rPr>
              <a:t> </a:t>
            </a:r>
            <a:r>
              <a:rPr lang="en-US" altLang="en-US">
                <a:solidFill>
                  <a:srgbClr val="0070C0"/>
                </a:solidFill>
              </a:rPr>
              <a:t>шаги</a:t>
            </a:r>
            <a:endParaRPr lang="en-US" altLang="en-US">
              <a:solidFill>
                <a:srgbClr val="0070C0"/>
              </a:solidFill>
            </a:endParaRPr>
          </a:p>
        </p:txBody>
      </p:sp>
      <p:sp>
        <p:nvSpPr>
          <p:cNvPr id="3" name="Текстовое поле 2"/>
          <p:cNvSpPr txBox="1"/>
          <p:nvPr/>
        </p:nvSpPr>
        <p:spPr>
          <a:xfrm>
            <a:off x="959485" y="955675"/>
            <a:ext cx="7127240" cy="336550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Интеграция машинного обучения для прогнозирования спроса и динамического ценообразования.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Разработка мобильного приложения с отслеживанием в реальном времени.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Расширение на мультимодальные перевозки (автомобили, грузовики, велосипеды).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  <a:p>
            <a:pPr marL="0" indent="0">
              <a:spcBef>
                <a:spcPts val="900"/>
              </a:spcBef>
              <a:spcAft>
                <a:spcPts val="900"/>
              </a:spcAft>
            </a:pPr>
            <a:r>
              <a:rPr lang="en-US" altLang="zh-CN" sz="18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Пилотное тестирование с локальными логистическими компаниями.</a:t>
            </a:r>
            <a:endParaRPr lang="en-US" altLang="zh-CN" sz="18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Изображение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0960" y="0"/>
            <a:ext cx="9191625" cy="5185410"/>
          </a:xfrm>
          <a:prstGeom prst="rect">
            <a:avLst/>
          </a:prstGeom>
        </p:spPr>
      </p:pic>
      <p:sp>
        <p:nvSpPr>
          <p:cNvPr id="6" name="Текстовое поле 5"/>
          <p:cNvSpPr txBox="1"/>
          <p:nvPr/>
        </p:nvSpPr>
        <p:spPr>
          <a:xfrm>
            <a:off x="0" y="470693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pPr marL="0" indent="0"/>
            <a:r>
              <a:rPr lang="en-US" altLang="zh-CN" sz="1600" b="0" i="0">
                <a:solidFill>
                  <a:schemeClr val="tx1"/>
                </a:solidFill>
                <a:latin typeface="Times New Roman" panose="02020603050405020304" charset="0"/>
                <a:ea typeface="quote-cjk-patch"/>
                <a:cs typeface="Times New Roman" panose="02020603050405020304" charset="0"/>
              </a:rPr>
              <a:t>Контакты: lieson.mwale22@gmail.com</a:t>
            </a:r>
            <a:endParaRPr lang="en-US" altLang="zh-CN" sz="1600" b="0" i="0">
              <a:solidFill>
                <a:schemeClr val="tx1"/>
              </a:solidFill>
              <a:latin typeface="Times New Roman" panose="02020603050405020304" charset="0"/>
              <a:ea typeface="quote-cjk-patch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395*64"/>
  <p:tag name="TABLE_ENDDRAG_RECT" val="15*311*395*64"/>
</p:tagLst>
</file>

<file path=ppt/tags/tag2.xml><?xml version="1.0" encoding="utf-8"?>
<p:tagLst xmlns:p="http://schemas.openxmlformats.org/presentationml/2006/main">
  <p:tag name="KSO_WM_DIAGRAM_VIRTUALLY_FRAME" val="{&quot;height&quot;:276.8505511811024,&quot;left&quot;:28.778503937007827,&quot;top&quot;:59.41125984251969,&quot;width&quot;:1100.95}"/>
</p:tagLst>
</file>

<file path=ppt/tags/tag3.xml><?xml version="1.0" encoding="utf-8"?>
<p:tagLst xmlns:p="http://schemas.openxmlformats.org/presentationml/2006/main">
  <p:tag name="KSO_WM_DIAGRAM_VIRTUALLY_FRAME" val="{&quot;height&quot;:276.8505511811024,&quot;left&quot;:28.778503937007827,&quot;top&quot;:59.41125984251969,&quot;width&quot;:1100.95}"/>
</p:tagLst>
</file>

<file path=ppt/tags/tag4.xml><?xml version="1.0" encoding="utf-8"?>
<p:tagLst xmlns:p="http://schemas.openxmlformats.org/presentationml/2006/main">
  <p:tag name="TABLE_ENDDRAG_ORIGIN_RECT" val="617*317"/>
  <p:tag name="TABLE_ENDDRAG_RECT" val="36*62*617*317"/>
</p:tagLst>
</file>

<file path=ppt/theme/theme1.xml><?xml version="1.0" encoding="utf-8"?>
<a:theme xmlns:a="http://schemas.openxmlformats.org/drawingml/2006/main" name="Green Color">
  <a:themeElements>
    <a:clrScheme name="Green Color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9900"/>
      </a:accent1>
      <a:accent2>
        <a:srgbClr val="99CC00"/>
      </a:accent2>
      <a:accent3>
        <a:srgbClr val="FFFFFF"/>
      </a:accent3>
      <a:accent4>
        <a:srgbClr val="000000"/>
      </a:accent4>
      <a:accent5>
        <a:srgbClr val="AACAAA"/>
      </a:accent5>
      <a:accent6>
        <a:srgbClr val="8AB900"/>
      </a:accent6>
      <a:hlink>
        <a:srgbClr val="CC3300"/>
      </a:hlink>
      <a:folHlink>
        <a:srgbClr val="996600"/>
      </a:folHlink>
    </a:clrScheme>
    <a:fontScheme name="Green Color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ea typeface="SimSun" panose="02010600030101010101" pitchFamily="2" charset="-122"/>
          </a:defRPr>
        </a:defPPr>
      </a:lstStyle>
    </a:lnDef>
  </a:objectDefaults>
  <a:extraClrSchemeLst>
    <a:extraClrScheme>
      <a:clrScheme name="Green Color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reen Color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reen Color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009900"/>
        </a:accent1>
        <a:accent2>
          <a:srgbClr val="99CC00"/>
        </a:accent2>
        <a:accent3>
          <a:srgbClr val="FFFFFF"/>
        </a:accent3>
        <a:accent4>
          <a:srgbClr val="000000"/>
        </a:accent4>
        <a:accent5>
          <a:srgbClr val="AACAAA"/>
        </a:accent5>
        <a:accent6>
          <a:srgbClr val="8AB9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11682</Words>
  <Application>WPS Presentation</Application>
  <PresentationFormat>全屏显示(16:9)</PresentationFormat>
  <Paragraphs>303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41" baseType="lpstr">
      <vt:lpstr>Arial</vt:lpstr>
      <vt:lpstr>SimSun</vt:lpstr>
      <vt:lpstr>Wingdings</vt:lpstr>
      <vt:lpstr>Calibri</vt:lpstr>
      <vt:lpstr>Times New Roman</vt:lpstr>
      <vt:lpstr>quote-cjk-patch</vt:lpstr>
      <vt:lpstr>Liberation Mono</vt:lpstr>
      <vt:lpstr>Arial</vt:lpstr>
      <vt:lpstr>Menlo</vt:lpstr>
      <vt:lpstr>Consolas</vt:lpstr>
      <vt:lpstr>Microsoft YaHei</vt:lpstr>
      <vt:lpstr>Arial Unicode MS</vt:lpstr>
      <vt:lpstr>等线</vt:lpstr>
      <vt:lpstr>Times New Roman</vt:lpstr>
      <vt:lpstr>Green Color</vt:lpstr>
      <vt:lpstr>PowerPoint 演示文稿</vt:lpstr>
      <vt:lpstr>PowerPoint 演示文稿</vt:lpstr>
      <vt:lpstr>PowerPoint 演示文稿</vt:lpstr>
      <vt:lpstr>PowerPoint 演示文稿</vt:lpstr>
      <vt:lpstr>Оптимизация логистической платформы</vt:lpstr>
      <vt:lpstr>Часть 1 – Для водителей: Поиск ближайших заказов</vt:lpstr>
      <vt:lpstr>Краткий псевдокод алгоритма для решения многомерной задачи о рюкзаке (вес + объём)</vt:lpstr>
      <vt:lpstr>Ключевые различия</vt:lpstr>
      <vt:lpstr>Какой алгоритм лучше выбрать?</vt:lpstr>
      <vt:lpstr>1. Основная метрика сортировки (плотность прибыли):</vt:lpstr>
      <vt:lpstr>Шаг 2: Геопространственный поиск (k ближайших соседей с фильтром по расстоянию)</vt:lpstr>
      <vt:lpstr>Геопространственный поиск: Geohash + k ближайших соседей</vt:lpstr>
      <vt:lpstr>Оптимизация маршрута</vt:lpstr>
      <vt:lpstr>PowerPoint 演示文稿</vt:lpstr>
      <vt:lpstr>Часть 2: Алгоритмы для стороны клиента</vt:lpstr>
      <vt:lpstr>PowerPoint 演示文稿</vt:lpstr>
      <vt:lpstr>Сравнение с существующими рыночными решениями</vt:lpstr>
      <vt:lpstr>PowerPoint 演示文稿</vt:lpstr>
      <vt:lpstr>Архитектура базы данных DeliveryMatch Полная модель данных и руководство по реализации</vt:lpstr>
      <vt:lpstr>PowerPoint 演示文稿</vt:lpstr>
      <vt:lpstr>PowerPoint 演示文稿</vt:lpstr>
      <vt:lpstr>PowerPoint 演示文稿</vt:lpstr>
      <vt:lpstr>PowerPoint 演示文稿</vt:lpstr>
      <vt:lpstr>Заключение</vt:lpstr>
      <vt:lpstr>Дальнейшие шаги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Eric羊</dc:creator>
  <cp:lastModifiedBy>Lieson Mwale</cp:lastModifiedBy>
  <cp:revision>98</cp:revision>
  <dcterms:created xsi:type="dcterms:W3CDTF">2017-05-02T06:39:00Z</dcterms:created>
  <dcterms:modified xsi:type="dcterms:W3CDTF">2026-05-25T07:19:50Z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1049-12.2.0.23202</vt:lpwstr>
  </property>
  <property fmtid="{D5CDD505-2E9C-101B-9397-08002B2CF9AE}" pid="3" name="ICV">
    <vt:lpwstr>E28CD8AC8AC44C77981ED2ED2EFF169E_13</vt:lpwstr>
  </property>
</Properties>
</file>