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60" r:id="rId6"/>
    <p:sldId id="259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24530-25CC-402C-8942-0A3FE04A45EC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C3F27-C63A-48B2-8660-A15675FD5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7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3F27-C63A-48B2-8660-A15675FD5B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64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3F27-C63A-48B2-8660-A15675FD5B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5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8DF3-B195-8B67-4E45-056200A4E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88E87-ED54-8F14-C93A-0F880160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F70DD-4EF9-01C1-1F1B-A68D5F6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20252-62AB-CBE9-305F-35397B4F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FE79E-74D0-4AE0-DC64-D164978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4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25EF-FE18-8BCE-5269-213C3169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64A53-C57E-12F6-ED8B-EED31C93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DAF16-8DE1-0D12-00AD-7D4DB172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0A04D-3F31-D7EB-E675-F55C2E0A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66E4-A25C-4100-708A-D0E71EE7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7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CB4B-5680-E470-5848-D5F97E8D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3D18-A5F4-8E09-6388-E2326EF38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7DB02-E4FD-AC34-D1F2-73FD3935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08EE0-2F94-5C89-7E71-51590AF7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E9A11-BD7B-98FD-0868-970D631A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6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489A9-D4C1-82B3-0DAE-08D9AA15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E3AD0-0DC6-8A8D-FB55-0824953B2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0866C-ED67-C14F-AD4D-AAE3D620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56DF2-7B2D-A56E-6F6A-7C4CADCF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FDDBA-451C-498E-F5B7-C62DEDEA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6D0E0-548C-818B-B440-6DEB4BCC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BCA9-20CB-01EF-37A8-E9BD84A2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FBC8C-34BC-8E44-2D66-F55455C1E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90294-B6ED-60E8-03FD-C904D6B16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9DCE3-7819-735F-6E41-0A12CEC62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1336F-2ACE-6B11-5DCB-004833472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F4A86-1A2C-4EE4-9F62-82741182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AB373C-41CA-D0F3-CDF2-30C9FD29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82C00-9AB7-F93D-75ED-EAA7B4DC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8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32E4-5C71-7E4E-8862-2F5E67D8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8B0C8E-3884-5764-81D9-CAB10228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A65DF-BDE9-BA2C-BD29-3E6D0AB7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4B75B-F8A7-A619-58E9-52FC904F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9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C999E-D53D-A704-6FE5-2E9155E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8B818-9577-2926-53FC-EED16322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87DED-6FBC-0C90-04E9-023CE530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0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E755-B1A0-C2D2-757D-7C0F4FB2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A836-5E0D-6B25-8F2B-3DCEC4F2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D4962-8F34-BAA6-67E5-46C61EC1D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094BA-15DC-D8D8-D35A-82DE9D6F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B0066-6860-F4BF-0C33-E058F710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5E8D3-8FEF-BCDF-1D4D-EE3DAE00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0DCD-E1D4-15A9-E14C-A930FF97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770A8-0545-40F4-5DF9-37E68C8D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C33D-618C-06FF-E857-E9DFD94F4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586C2-D3A8-1591-991F-E8130588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EE37C-9DA1-F487-94F5-C15E5062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C5881-C503-5951-FD7D-3C4EA9B9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79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A1E6-D358-DE46-AEC0-58A421D9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72553-B8CA-A31F-CEB6-1E8F1C1D5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7D02D-CA36-A62B-A83F-FAFEDE33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00BA-4ACD-9FB3-EF8A-A365492C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C8C84-9283-F6E7-105F-C8D3A42F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4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DF8BF-741C-1B59-57E2-4EB0687A1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2D4EE-D8DB-FE18-C690-173F03BAA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E8CB1-807E-C206-1321-10B60557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7F4B-3F71-CAE0-6056-806D1ECC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926F-A42A-6342-74CC-F6904757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8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21723-FDB7-2D63-E18E-8017E000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8ADDA-2EF8-D192-94B4-0A62F8E79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51A7-AA3A-2FA8-49B5-265D592A8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6359F-2ABC-4B3D-8D78-E680BF703AF9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57F4E-0CD1-F0D7-12E8-EB93E4AC7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3538F-FA8F-4747-01D2-06A69577B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FA044-5561-415D-9F1C-FF38FCEFE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6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E025-D99C-8B5D-DE19-D21F84145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оптимального маршрута судна в сфере морских грузоперевозок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A33E7-5DEA-DBFA-93FF-DD3D75129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88817"/>
            <a:ext cx="9144000" cy="1070630"/>
          </a:xfrm>
        </p:spPr>
        <p:txBody>
          <a:bodyPr/>
          <a:lstStyle/>
          <a:p>
            <a:pPr algn="l"/>
            <a:r>
              <a:rPr lang="ru-RU" dirty="0"/>
              <a:t>Студент: Веэремаа А. В.</a:t>
            </a:r>
          </a:p>
          <a:p>
            <a:pPr algn="l"/>
            <a:r>
              <a:rPr lang="ru-RU" dirty="0"/>
              <a:t>Руководитель: Колесникова С. 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32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AF3A-D5C2-C172-30B0-8A2A41BA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5C39-ADC2-5AED-845F-ED7273E21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Морские грузоперевозки являются основным методом доставки грузов в общемировом масштабе. Грузовые суда имеют очень высокую грузоподъёмность по сравнению с другими видами транспорта.</a:t>
            </a:r>
          </a:p>
          <a:p>
            <a:r>
              <a:rPr lang="ru-RU" dirty="0"/>
              <a:t>Виды морских грузоперевозок:</a:t>
            </a:r>
          </a:p>
          <a:p>
            <a:pPr marL="971550" lvl="1" indent="-514350">
              <a:buAutoNum type="arabicPeriod"/>
            </a:pPr>
            <a:r>
              <a:rPr lang="ru-RU" dirty="0"/>
              <a:t>Линейные (регулярные рейсы по заданным траекториям)</a:t>
            </a:r>
          </a:p>
          <a:p>
            <a:pPr marL="971550" lvl="1" indent="-514350">
              <a:buAutoNum type="arabicPeriod"/>
            </a:pPr>
            <a:r>
              <a:rPr lang="ru-RU" dirty="0"/>
              <a:t>Трамповые (нерегулярные договорные рейсы по доставке большого кол-ва груза, обычно навалом)</a:t>
            </a:r>
          </a:p>
          <a:p>
            <a:r>
              <a:rPr lang="ru-RU" dirty="0"/>
              <a:t>Твёрдые грузы перевозятся:</a:t>
            </a:r>
          </a:p>
          <a:p>
            <a:pPr lvl="1"/>
            <a:r>
              <a:rPr lang="ru-RU" dirty="0"/>
              <a:t>В контейнерах</a:t>
            </a:r>
          </a:p>
          <a:p>
            <a:pPr lvl="1"/>
            <a:r>
              <a:rPr lang="ru-RU" dirty="0"/>
              <a:t>В стандартной упаковке (паллеты, коробки)</a:t>
            </a:r>
          </a:p>
          <a:p>
            <a:pPr lvl="1"/>
            <a:r>
              <a:rPr lang="ru-RU" dirty="0"/>
              <a:t>Навалом (рассыпчатые грузы в большом объёме: зерно, уголь)</a:t>
            </a:r>
          </a:p>
        </p:txBody>
      </p:sp>
    </p:spTree>
    <p:extLst>
      <p:ext uri="{BB962C8B-B14F-4D97-AF65-F5344CB8AC3E}">
        <p14:creationId xmlns:p14="http://schemas.microsoft.com/office/powerpoint/2010/main" val="363136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73E6-9420-703C-4363-3498ED26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0163-DE3D-542D-9CDC-8E04BC17F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903"/>
            <a:ext cx="10515600" cy="424306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Автоматизация построения оптимального маршрута </a:t>
            </a:r>
            <a:r>
              <a:rPr lang="ru-RU" dirty="0">
                <a:solidFill>
                  <a:srgbClr val="FF0000"/>
                </a:solidFill>
              </a:rPr>
              <a:t>для </a:t>
            </a:r>
            <a:r>
              <a:rPr lang="ru-RU" dirty="0" smtClean="0">
                <a:solidFill>
                  <a:srgbClr val="FF0000"/>
                </a:solidFill>
              </a:rPr>
              <a:t>судна в неполно определенных условиях, многокритериальности и заданных ограничениях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strike="sngStrike" dirty="0" smtClean="0">
                <a:solidFill>
                  <a:srgbClr val="FF0000"/>
                </a:solidFill>
              </a:rPr>
              <a:t>На </a:t>
            </a:r>
            <a:r>
              <a:rPr lang="ru-RU" strike="sngStrike" dirty="0">
                <a:solidFill>
                  <a:srgbClr val="FF0000"/>
                </a:solidFill>
              </a:rPr>
              <a:t>основании данных о грузах, которые необходимо перевезти</a:t>
            </a:r>
            <a:r>
              <a:rPr lang="ru-RU" dirty="0"/>
              <a:t>, </a:t>
            </a:r>
          </a:p>
          <a:p>
            <a:r>
              <a:rPr lang="ru-RU" dirty="0"/>
              <a:t>Реализация </a:t>
            </a:r>
            <a:r>
              <a:rPr lang="ru-RU" dirty="0" smtClean="0">
                <a:solidFill>
                  <a:srgbClr val="FF0000"/>
                </a:solidFill>
              </a:rPr>
              <a:t>цели исследования </a:t>
            </a:r>
            <a:r>
              <a:rPr lang="ru-RU" dirty="0" smtClean="0"/>
              <a:t>позволит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Снизить расходы на содержание судна</a:t>
            </a:r>
          </a:p>
          <a:p>
            <a:pPr lvl="1"/>
            <a:r>
              <a:rPr lang="ru-RU" dirty="0"/>
              <a:t>Оптимально использовать время, минимизировать простои</a:t>
            </a:r>
          </a:p>
          <a:p>
            <a:pPr lvl="1"/>
            <a:r>
              <a:rPr lang="ru-RU" dirty="0"/>
              <a:t>Выбрать наиболее выгодный маршрут по стоимости перевозимых грузов</a:t>
            </a:r>
            <a:endParaRPr lang="en-US" dirty="0"/>
          </a:p>
          <a:p>
            <a:pPr lvl="1"/>
            <a:r>
              <a:rPr lang="ru-RU" dirty="0"/>
              <a:t>Учесть возможность форс-мажоров, перестроить маршрут в случае необходимости, предусмотреть резервное время и ресурсы.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3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1641-2562-3329-E074-D7EEC236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006D-DFF2-A7B2-E8AD-4EFEF5495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Грузовые суда крупнотоннажные, поэтому свойственны высокие (в абсолютных величинах) затраты, высокая продолжительность рейсов (несколько недель) и расход топлива.</a:t>
            </a:r>
          </a:p>
          <a:p>
            <a:r>
              <a:rPr lang="ru-RU" dirty="0"/>
              <a:t>Для повышени рентабельности важно:</a:t>
            </a:r>
          </a:p>
          <a:p>
            <a:pPr lvl="1"/>
            <a:r>
              <a:rPr lang="ru-RU" dirty="0"/>
              <a:t>Оптимально загрузить судно грузами (полная загрузка, порядок разгрузки)</a:t>
            </a:r>
          </a:p>
          <a:p>
            <a:pPr lvl="1"/>
            <a:r>
              <a:rPr lang="ru-RU" dirty="0"/>
              <a:t>Важно сократить время простоя (ожидание в очереди на загрузку-погрузку в портах).</a:t>
            </a:r>
          </a:p>
          <a:p>
            <a:pPr lvl="1"/>
            <a:r>
              <a:rPr lang="ru-RU" dirty="0"/>
              <a:t>Снизить время в пути (затраты на топливо, экипаж и обслуживание судна)</a:t>
            </a:r>
          </a:p>
          <a:p>
            <a:pPr lvl="1"/>
            <a:r>
              <a:rPr lang="ru-RU" dirty="0"/>
              <a:t>Выбрать грузы, которые перевозить наиболее выгодно</a:t>
            </a:r>
          </a:p>
          <a:p>
            <a:r>
              <a:rPr lang="ru-RU" dirty="0"/>
              <a:t>Необходимо учитывать временные рамки на доставку груза, и другую специфику конкретных видов грузов.</a:t>
            </a:r>
          </a:p>
          <a:p>
            <a:r>
              <a:rPr lang="ru-RU" dirty="0"/>
              <a:t>Возможны форс-мажоры: задержки в порту, погодные факторы, срыв сделок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09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D4F4-CA5A-69B6-8483-C01BEE47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Прецеденты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EE77-F987-6FC5-1760-B644D8237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01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Основные современные публикации: оптимизация </a:t>
            </a:r>
            <a:r>
              <a:rPr lang="ru-RU" dirty="0">
                <a:solidFill>
                  <a:srgbClr val="FF0000"/>
                </a:solidFill>
              </a:rPr>
              <a:t>сетей при линейных перевозках (контейнерные </a:t>
            </a:r>
            <a:r>
              <a:rPr lang="ru-RU" dirty="0" err="1" smtClean="0">
                <a:solidFill>
                  <a:srgbClr val="FF0000"/>
                </a:solidFill>
              </a:rPr>
              <a:t>линии.</a:t>
            </a:r>
            <a:r>
              <a:rPr lang="ru-RU" dirty="0" err="1" smtClean="0"/>
              <a:t>В</a:t>
            </a:r>
            <a:r>
              <a:rPr lang="ru-RU" dirty="0" smtClean="0"/>
              <a:t> </a:t>
            </a:r>
            <a:r>
              <a:rPr lang="ru-RU" dirty="0"/>
              <a:t>современных работах большой фокус на снижение выбросов парниковых газов.</a:t>
            </a:r>
          </a:p>
          <a:p>
            <a:r>
              <a:rPr lang="ru-RU" dirty="0"/>
              <a:t>Примеры:</a:t>
            </a:r>
          </a:p>
          <a:p>
            <a:pPr lvl="1"/>
            <a:r>
              <a:rPr lang="ru-RU" dirty="0" smtClean="0">
                <a:solidFill>
                  <a:srgbClr val="FF0000"/>
                </a:solidFill>
              </a:rPr>
              <a:t>Авторы</a:t>
            </a:r>
            <a:r>
              <a:rPr lang="ru-RU" dirty="0" smtClean="0"/>
              <a:t> "</a:t>
            </a:r>
            <a:r>
              <a:rPr lang="en-US" dirty="0"/>
              <a:t>Approximate dynamic programming for liner shipping network design" Springer / 2024</a:t>
            </a:r>
            <a:endParaRPr lang="ru-RU" dirty="0"/>
          </a:p>
          <a:p>
            <a:pPr lvl="1"/>
            <a:r>
              <a:rPr lang="ru-RU" dirty="0">
                <a:solidFill>
                  <a:srgbClr val="FF0000"/>
                </a:solidFill>
              </a:rPr>
              <a:t>Авторы </a:t>
            </a:r>
            <a:r>
              <a:rPr lang="ru-RU" dirty="0" smtClean="0"/>
              <a:t>"</a:t>
            </a:r>
            <a:r>
              <a:rPr lang="en-US" dirty="0"/>
              <a:t>Flexible Optimization of International Shipping Routes considering Carbon Emission Cost</a:t>
            </a:r>
            <a:r>
              <a:rPr lang="ru-RU" dirty="0"/>
              <a:t>"</a:t>
            </a:r>
            <a:r>
              <a:rPr lang="en-US" dirty="0"/>
              <a:t> / Mathematical Problems in Engineering 2021:1-9</a:t>
            </a:r>
            <a:endParaRPr lang="ru-RU" dirty="0"/>
          </a:p>
          <a:p>
            <a:pPr lvl="1"/>
            <a:r>
              <a:rPr lang="ru-RU" dirty="0">
                <a:solidFill>
                  <a:srgbClr val="FF0000"/>
                </a:solidFill>
              </a:rPr>
              <a:t>Авторы </a:t>
            </a:r>
            <a:r>
              <a:rPr lang="ru-RU" dirty="0" smtClean="0"/>
              <a:t>"</a:t>
            </a:r>
            <a:r>
              <a:rPr lang="en-US" dirty="0"/>
              <a:t>Optimization of Container Shipping Network Reconfiguration under RCEP</a:t>
            </a:r>
            <a:r>
              <a:rPr lang="ru-RU" dirty="0"/>
              <a:t>" / </a:t>
            </a:r>
            <a:r>
              <a:rPr lang="en-US" dirty="0"/>
              <a:t>Journal of Marine Science and Engineering 10(7):873</a:t>
            </a:r>
          </a:p>
        </p:txBody>
      </p:sp>
    </p:spTree>
    <p:extLst>
      <p:ext uri="{BB962C8B-B14F-4D97-AF65-F5344CB8AC3E}">
        <p14:creationId xmlns:p14="http://schemas.microsoft.com/office/powerpoint/2010/main" val="136581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C43E5-306B-6CEB-55E7-8882B9D6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Неформализованная постановка 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6B5B-1F00-EE77-388F-068B1B360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Для заданного судна с указанной отправной точкой, на основании имеющихся данных о грузовых позициях (грузах, требующих отправки из одного порта в другой) построить несколько вариантов возможных маршрутов, и выбрать наиболее оптимальный из них по одному или нескольким заданным критериям: </a:t>
            </a:r>
          </a:p>
          <a:p>
            <a:pPr lvl="1"/>
            <a:r>
              <a:rPr lang="ru-RU" dirty="0"/>
              <a:t>максимизация прибыли </a:t>
            </a:r>
          </a:p>
          <a:p>
            <a:pPr lvl="1"/>
            <a:r>
              <a:rPr lang="ru-RU" dirty="0"/>
              <a:t>максимизация загрузки судна</a:t>
            </a:r>
          </a:p>
          <a:p>
            <a:pPr lvl="1"/>
            <a:r>
              <a:rPr lang="ru-RU" dirty="0"/>
              <a:t>минимизация расходов</a:t>
            </a:r>
          </a:p>
          <a:p>
            <a:pPr lvl="1"/>
            <a:r>
              <a:rPr lang="ru-RU" dirty="0"/>
              <a:t>минимизация времени в пути</a:t>
            </a:r>
          </a:p>
          <a:p>
            <a:pPr lvl="1"/>
            <a:r>
              <a:rPr lang="ru-RU" dirty="0"/>
              <a:t>минимизация расхода топлива (и вредных выбросов)</a:t>
            </a:r>
          </a:p>
          <a:p>
            <a:r>
              <a:rPr lang="ru-RU" dirty="0"/>
              <a:t>В дальнейшем</a:t>
            </a:r>
            <a:r>
              <a:rPr lang="en-US" dirty="0"/>
              <a:t> </a:t>
            </a:r>
            <a:r>
              <a:rPr lang="ru-RU" dirty="0"/>
              <a:t>требуется формализованная 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3381662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284D-B534-ABCF-75E6-64E80033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подзадачи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5414-74F0-C9B4-23CA-B8EE31CB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11" y="1542066"/>
            <a:ext cx="11866178" cy="4351338"/>
          </a:xfrm>
        </p:spPr>
        <p:txBody>
          <a:bodyPr>
            <a:noAutofit/>
          </a:bodyPr>
          <a:lstStyle/>
          <a:p>
            <a:r>
              <a:rPr lang="ru-RU" sz="2600" dirty="0" smtClean="0">
                <a:solidFill>
                  <a:srgbClr val="FF0000"/>
                </a:solidFill>
              </a:rPr>
              <a:t>Создание выборки </a:t>
            </a:r>
            <a:r>
              <a:rPr lang="ru-RU" sz="2600" dirty="0"/>
              <a:t>и анализ грузовых позиций в указанных портах</a:t>
            </a:r>
          </a:p>
          <a:p>
            <a:r>
              <a:rPr lang="ru-RU" sz="2600" dirty="0" smtClean="0"/>
              <a:t>Построение </a:t>
            </a:r>
            <a:r>
              <a:rPr lang="ru-RU" sz="2600" dirty="0" smtClean="0"/>
              <a:t>вариантов </a:t>
            </a:r>
            <a:r>
              <a:rPr lang="ru-RU" sz="2600" dirty="0"/>
              <a:t>маршрутов </a:t>
            </a:r>
            <a:r>
              <a:rPr lang="ru-RU" sz="2600" dirty="0" smtClean="0">
                <a:solidFill>
                  <a:srgbClr val="FF0000"/>
                </a:solidFill>
              </a:rPr>
              <a:t>(пути)с учетом </a:t>
            </a:r>
            <a:r>
              <a:rPr lang="ru-RU" sz="2600" dirty="0" err="1" smtClean="0">
                <a:solidFill>
                  <a:srgbClr val="FF0000"/>
                </a:solidFill>
              </a:rPr>
              <a:t>форсмажорных</a:t>
            </a:r>
            <a:r>
              <a:rPr lang="ru-RU" sz="2600" dirty="0" smtClean="0">
                <a:solidFill>
                  <a:srgbClr val="FF0000"/>
                </a:solidFill>
              </a:rPr>
              <a:t> ситуаций.</a:t>
            </a:r>
            <a:endParaRPr lang="ru-RU" sz="2600" dirty="0">
              <a:solidFill>
                <a:srgbClr val="FF0000"/>
              </a:solidFill>
            </a:endParaRPr>
          </a:p>
          <a:p>
            <a:r>
              <a:rPr lang="ru-RU" sz="2600" dirty="0" smtClean="0">
                <a:solidFill>
                  <a:srgbClr val="FF0000"/>
                </a:solidFill>
              </a:rPr>
              <a:t>Конструирование целевой функции (учет </a:t>
            </a:r>
            <a:r>
              <a:rPr lang="ru-RU" sz="2600" dirty="0"/>
              <a:t>расходов и возможных доходов (на основании фрахтовых ставок</a:t>
            </a:r>
            <a:r>
              <a:rPr lang="ru-RU" sz="2600" dirty="0" smtClean="0"/>
              <a:t>))</a:t>
            </a:r>
            <a:endParaRPr lang="ru-RU" sz="2600" dirty="0"/>
          </a:p>
          <a:p>
            <a:r>
              <a:rPr lang="ru-RU" sz="2600" dirty="0">
                <a:solidFill>
                  <a:srgbClr val="C00000"/>
                </a:solidFill>
              </a:rPr>
              <a:t>Определение оптимального маршрута по </a:t>
            </a:r>
            <a:r>
              <a:rPr lang="ru-RU" sz="2600" dirty="0" smtClean="0">
                <a:solidFill>
                  <a:srgbClr val="C00000"/>
                </a:solidFill>
              </a:rPr>
              <a:t>множеству заданных критериев </a:t>
            </a:r>
            <a:r>
              <a:rPr lang="ru-RU" sz="2600" dirty="0"/>
              <a:t>(задача многокритериального выбора)</a:t>
            </a:r>
          </a:p>
          <a:p>
            <a:pPr marL="714375" indent="0">
              <a:buNone/>
            </a:pPr>
            <a:r>
              <a:rPr lang="ru-RU" sz="2600" dirty="0"/>
              <a:t>Возможные допололнительные задачи:</a:t>
            </a:r>
            <a:endParaRPr lang="en-US" sz="2600" dirty="0"/>
          </a:p>
          <a:p>
            <a:pPr marL="714375" indent="0"/>
            <a:r>
              <a:rPr lang="ru-RU" sz="2600" dirty="0"/>
              <a:t>Разбор корреспонденции с грузовыми позициями (обработка текста)</a:t>
            </a:r>
          </a:p>
          <a:p>
            <a:pPr marL="714375" indent="0"/>
            <a:r>
              <a:rPr lang="ru-RU" sz="2600" dirty="0"/>
              <a:t>Оптимальная загрузка судна (задача о рюкзаке)</a:t>
            </a:r>
          </a:p>
          <a:p>
            <a:pPr marL="0" indent="0">
              <a:buNone/>
            </a:pPr>
            <a:endParaRPr lang="ru-RU" sz="2600" dirty="0">
              <a:solidFill>
                <a:srgbClr val="FF0000"/>
              </a:solidFill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6511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338E-E370-75CE-8155-1761C7F4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Применяемые методы и алгоритмы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51EA93-BE6A-26C1-EA52-F08AAAFF1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90153"/>
              </p:ext>
            </p:extLst>
          </p:nvPr>
        </p:nvGraphicFramePr>
        <p:xfrm>
          <a:off x="838199" y="1597818"/>
          <a:ext cx="10509404" cy="415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4702">
                  <a:extLst>
                    <a:ext uri="{9D8B030D-6E8A-4147-A177-3AD203B41FA5}">
                      <a16:colId xmlns:a16="http://schemas.microsoft.com/office/drawing/2014/main" val="2151731873"/>
                    </a:ext>
                  </a:extLst>
                </a:gridCol>
                <a:gridCol w="5254702">
                  <a:extLst>
                    <a:ext uri="{9D8B030D-6E8A-4147-A177-3AD203B41FA5}">
                      <a16:colId xmlns:a16="http://schemas.microsoft.com/office/drawing/2014/main" val="2363641247"/>
                    </a:ext>
                  </a:extLst>
                </a:gridCol>
              </a:tblGrid>
              <a:tr h="479492">
                <a:tc>
                  <a:txBody>
                    <a:bodyPr/>
                    <a:lstStyle/>
                    <a:p>
                      <a:r>
                        <a:rPr lang="ru-RU" sz="2300" dirty="0"/>
                        <a:t>Задача</a:t>
                      </a:r>
                    </a:p>
                  </a:txBody>
                  <a:tcPr marL="118231" marR="118231" marT="59115" marB="59115"/>
                </a:tc>
                <a:tc>
                  <a:txBody>
                    <a:bodyPr/>
                    <a:lstStyle/>
                    <a:p>
                      <a:r>
                        <a:rPr lang="ru-RU" sz="2300" dirty="0"/>
                        <a:t>Метод/алгоритм</a:t>
                      </a:r>
                    </a:p>
                  </a:txBody>
                  <a:tcPr marL="118231" marR="118231" marT="59115" marB="59115"/>
                </a:tc>
                <a:extLst>
                  <a:ext uri="{0D108BD9-81ED-4DB2-BD59-A6C34878D82A}">
                    <a16:rowId xmlns:a16="http://schemas.microsoft.com/office/drawing/2014/main" val="735035796"/>
                  </a:ext>
                </a:extLst>
              </a:tr>
              <a:tr h="47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300" dirty="0"/>
                        <a:t>Базовая задача поиска пути</a:t>
                      </a:r>
                    </a:p>
                  </a:txBody>
                  <a:tcPr marL="118231" marR="118231" marT="59115" marB="591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300" dirty="0"/>
                        <a:t>Алгоритм Дейкстры или </a:t>
                      </a:r>
                      <a:r>
                        <a:rPr lang="en-US" sz="2300" dirty="0"/>
                        <a:t>A*</a:t>
                      </a:r>
                      <a:endParaRPr lang="ru-RU" sz="2300" dirty="0"/>
                    </a:p>
                  </a:txBody>
                  <a:tcPr marL="118231" marR="118231" marT="59115" marB="59115"/>
                </a:tc>
                <a:extLst>
                  <a:ext uri="{0D108BD9-81ED-4DB2-BD59-A6C34878D82A}">
                    <a16:rowId xmlns:a16="http://schemas.microsoft.com/office/drawing/2014/main" val="871142747"/>
                  </a:ext>
                </a:extLst>
              </a:tr>
              <a:tr h="479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300" dirty="0"/>
                        <a:t>Первичное построение нескольких вариантов маршрутов</a:t>
                      </a:r>
                    </a:p>
                  </a:txBody>
                  <a:tcPr marL="118231" marR="118231" marT="59115" marB="591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/>
                        <a:t>Approximate Dynamic Programming (ADP, </a:t>
                      </a:r>
                      <a:r>
                        <a:rPr lang="ru-RU" sz="2300" dirty="0"/>
                        <a:t>он же </a:t>
                      </a:r>
                      <a:r>
                        <a:rPr lang="en-US" sz="2300" dirty="0"/>
                        <a:t>Reinforcement Learning)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300" dirty="0"/>
                        <a:t>генетические алгоритмы?</a:t>
                      </a:r>
                    </a:p>
                  </a:txBody>
                  <a:tcPr marL="118231" marR="118231" marT="59115" marB="59115"/>
                </a:tc>
                <a:extLst>
                  <a:ext uri="{0D108BD9-81ED-4DB2-BD59-A6C34878D82A}">
                    <a16:rowId xmlns:a16="http://schemas.microsoft.com/office/drawing/2014/main" val="2551739749"/>
                  </a:ext>
                </a:extLst>
              </a:tr>
              <a:tr h="827616">
                <a:tc>
                  <a:txBody>
                    <a:bodyPr/>
                    <a:lstStyle/>
                    <a:p>
                      <a:r>
                        <a:rPr lang="ru-RU" sz="2300" dirty="0"/>
                        <a:t>Многокритериальный выбор по маршрутам</a:t>
                      </a:r>
                    </a:p>
                  </a:txBody>
                  <a:tcPr marL="118231" marR="118231" marT="59115" marB="59115"/>
                </a:tc>
                <a:tc>
                  <a:txBody>
                    <a:bodyPr/>
                    <a:lstStyle/>
                    <a:p>
                      <a:r>
                        <a:rPr lang="ru-RU" sz="2300" dirty="0"/>
                        <a:t>МАИ+</a:t>
                      </a:r>
                    </a:p>
                  </a:txBody>
                  <a:tcPr marL="118231" marR="118231" marT="59115" marB="59115"/>
                </a:tc>
                <a:extLst>
                  <a:ext uri="{0D108BD9-81ED-4DB2-BD59-A6C34878D82A}">
                    <a16:rowId xmlns:a16="http://schemas.microsoft.com/office/drawing/2014/main" val="1206098080"/>
                  </a:ext>
                </a:extLst>
              </a:tr>
              <a:tr h="479492">
                <a:tc>
                  <a:txBody>
                    <a:bodyPr/>
                    <a:lstStyle/>
                    <a:p>
                      <a:r>
                        <a:rPr lang="ru-RU" sz="2300" dirty="0"/>
                        <a:t>Оптимальное расположение груза (задача о рюкзаке)</a:t>
                      </a:r>
                    </a:p>
                  </a:txBody>
                  <a:tcPr marL="118231" marR="118231" marT="59115" marB="59115"/>
                </a:tc>
                <a:tc>
                  <a:txBody>
                    <a:bodyPr/>
                    <a:lstStyle/>
                    <a:p>
                      <a:r>
                        <a:rPr lang="ru-RU" sz="2300" dirty="0"/>
                        <a:t>ДП или </a:t>
                      </a:r>
                      <a:r>
                        <a:rPr lang="ru-RU" sz="2400" dirty="0"/>
                        <a:t>метод ветвей и границ</a:t>
                      </a:r>
                      <a:endParaRPr lang="ru-RU" sz="2300" dirty="0"/>
                    </a:p>
                  </a:txBody>
                  <a:tcPr marL="118231" marR="118231" marT="59115" marB="59115"/>
                </a:tc>
                <a:extLst>
                  <a:ext uri="{0D108BD9-81ED-4DB2-BD59-A6C34878D82A}">
                    <a16:rowId xmlns:a16="http://schemas.microsoft.com/office/drawing/2014/main" val="2430239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98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546</Words>
  <Application>Microsoft Office PowerPoint</Application>
  <PresentationFormat>Широкоэкранный</PresentationFormat>
  <Paragraphs>64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Построение оптимального маршрута судна в сфере морских грузоперевозок</vt:lpstr>
      <vt:lpstr>Предметная область</vt:lpstr>
      <vt:lpstr>Цель работы</vt:lpstr>
      <vt:lpstr>Актуальность</vt:lpstr>
      <vt:lpstr>Прецеденты</vt:lpstr>
      <vt:lpstr>Неформализованная постановка задачи</vt:lpstr>
      <vt:lpstr>Основные подзадачи</vt:lpstr>
      <vt:lpstr>Применяемые методы и алгоритмы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оптимального маршрута судна в сфере морских грузоперевозок</dc:title>
  <dc:creator>Andrei Veeremaa</dc:creator>
  <cp:lastModifiedBy>sikolesnikova@yandex.ru</cp:lastModifiedBy>
  <cp:revision>39</cp:revision>
  <dcterms:created xsi:type="dcterms:W3CDTF">2024-10-05T12:55:18Z</dcterms:created>
  <dcterms:modified xsi:type="dcterms:W3CDTF">2024-10-06T08:13:55Z</dcterms:modified>
</cp:coreProperties>
</file>